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c329bfe68841ea" /><Relationship Type="http://schemas.openxmlformats.org/officeDocument/2006/relationships/extended-properties" Target="/docProps/app.xml" Id="R9c63487c17404ec6" /><Relationship Type="http://schemas.openxmlformats.org/officeDocument/2006/relationships/officeDocument" Target="/ppt/presentation.xml" Id="R72202508306942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1ff4a38b8e4bf2"/>
  </p:sldMasterIdLst>
  <p:notesMasterIdLst>
    <p:notesMasterId xmlns:r="http://schemas.openxmlformats.org/officeDocument/2006/relationships" r:id="Rd3d7f8988030457f"/>
  </p:notesMasterIdLst>
  <p:sldIdLst>
    <p:sldId xmlns:r="http://schemas.openxmlformats.org/officeDocument/2006/relationships" id="256" r:id="Rc86358f7be484d8c"/>
    <p:sldId xmlns:r="http://schemas.openxmlformats.org/officeDocument/2006/relationships" id="257" r:id="Rb66fa34c4e3c4a99"/>
    <p:sldId xmlns:r="http://schemas.openxmlformats.org/officeDocument/2006/relationships" id="258" r:id="R90623812c5dc4f07"/>
    <p:sldId xmlns:r="http://schemas.openxmlformats.org/officeDocument/2006/relationships" id="259" r:id="Rbdecf8abd397420d"/>
    <p:sldId xmlns:r="http://schemas.openxmlformats.org/officeDocument/2006/relationships" id="260" r:id="Re86e9a4ee63343a8"/>
    <p:sldId xmlns:r="http://schemas.openxmlformats.org/officeDocument/2006/relationships" id="261" r:id="R0c38ba722a3148ef"/>
    <p:sldId xmlns:r="http://schemas.openxmlformats.org/officeDocument/2006/relationships" id="262" r:id="Rf3790372413a4d29"/>
    <p:sldId xmlns:r="http://schemas.openxmlformats.org/officeDocument/2006/relationships" id="263" r:id="R75298d35ec8a4a12"/>
    <p:sldId xmlns:r="http://schemas.openxmlformats.org/officeDocument/2006/relationships" id="264" r:id="R3d94830ce5d741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97752b78f8423c" /><Relationship Type="http://schemas.openxmlformats.org/officeDocument/2006/relationships/slideMaster" Target="/ppt/slideMasters/slideMaster1.xml" Id="R011ff4a38b8e4bf2" /><Relationship Type="http://schemas.openxmlformats.org/officeDocument/2006/relationships/notesMaster" Target="/ppt/notesMasters/notesMaster1.xml" Id="Rd3d7f8988030457f" /><Relationship Type="http://schemas.openxmlformats.org/officeDocument/2006/relationships/presProps" Target="/ppt/presProps.xml" Id="R89955ec1ca004b6f" /><Relationship Type="http://schemas.openxmlformats.org/officeDocument/2006/relationships/viewProps" Target="/ppt/viewProps.xml" Id="R7c6438ae17d24be0" /><Relationship Type="http://schemas.openxmlformats.org/officeDocument/2006/relationships/tableStyles" Target="/ppt/tableStyles.xml" Id="Rc19f9be573634f5a" /><Relationship Type="http://schemas.openxmlformats.org/officeDocument/2006/relationships/slide" Target="/ppt/slides/slide1.xml" Id="Rc86358f7be484d8c" /><Relationship Type="http://schemas.openxmlformats.org/officeDocument/2006/relationships/slide" Target="/ppt/slides/slide2.xml" Id="Rb66fa34c4e3c4a99" /><Relationship Type="http://schemas.openxmlformats.org/officeDocument/2006/relationships/slide" Target="/ppt/slides/slide3.xml" Id="R90623812c5dc4f07" /><Relationship Type="http://schemas.openxmlformats.org/officeDocument/2006/relationships/slide" Target="/ppt/slides/slide4.xml" Id="Rbdecf8abd397420d" /><Relationship Type="http://schemas.openxmlformats.org/officeDocument/2006/relationships/slide" Target="/ppt/slides/slide5.xml" Id="Re86e9a4ee63343a8" /><Relationship Type="http://schemas.openxmlformats.org/officeDocument/2006/relationships/slide" Target="/ppt/slides/slide6.xml" Id="R0c38ba722a3148ef" /><Relationship Type="http://schemas.openxmlformats.org/officeDocument/2006/relationships/slide" Target="/ppt/slides/slide7.xml" Id="Rf3790372413a4d29" /><Relationship Type="http://schemas.openxmlformats.org/officeDocument/2006/relationships/slide" Target="/ppt/slides/slide8.xml" Id="R75298d35ec8a4a12" /><Relationship Type="http://schemas.openxmlformats.org/officeDocument/2006/relationships/slide" Target="/ppt/slides/slide9.xml" Id="R3d94830ce5d741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3c2ede08e84f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f07d1e55e4476c" /><Relationship Type="http://schemas.openxmlformats.org/officeDocument/2006/relationships/notesMaster" Target="/ppt/notesMasters/notesMaster1.xml" Id="R0ebc3a2cd81e47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f6e39962cc4b53" /><Relationship Type="http://schemas.openxmlformats.org/officeDocument/2006/relationships/notesMaster" Target="/ppt/notesMasters/notesMaster1.xml" Id="Rf8901c44c9d842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a66f9965b14281" /><Relationship Type="http://schemas.openxmlformats.org/officeDocument/2006/relationships/notesMaster" Target="/ppt/notesMasters/notesMaster1.xml" Id="Re6185caf113446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323b4096aa4280" /><Relationship Type="http://schemas.openxmlformats.org/officeDocument/2006/relationships/notesMaster" Target="/ppt/notesMasters/notesMaster1.xml" Id="Raf4c2552653044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45fd282a0c4d3b" /><Relationship Type="http://schemas.openxmlformats.org/officeDocument/2006/relationships/notesMaster" Target="/ppt/notesMasters/notesMaster1.xml" Id="R5ae060e291f14c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56829c58d34436" /><Relationship Type="http://schemas.openxmlformats.org/officeDocument/2006/relationships/notesMaster" Target="/ppt/notesMasters/notesMaster1.xml" Id="Rb3d2ba5758fa48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f82a6f73834ef7" /><Relationship Type="http://schemas.openxmlformats.org/officeDocument/2006/relationships/notesMaster" Target="/ppt/notesMasters/notesMaster1.xml" Id="Radb7a860c7dd4f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48d76f93ea43d5" /><Relationship Type="http://schemas.openxmlformats.org/officeDocument/2006/relationships/notesMaster" Target="/ppt/notesMasters/notesMaster1.xml" Id="Rbf5340dde22343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b04a578ef443d5" /><Relationship Type="http://schemas.openxmlformats.org/officeDocument/2006/relationships/notesMaster" Target="/ppt/notesMasters/notesMaster1.xml" Id="R6377d7b4353347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team, title, department, registration numbers, and theme.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Project requirements discussed in the current Codex task: classroom availability, booking, admin/faculty/student roles.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Derived from the local KAHE CMS project structure and user requirements for MySQL persistence and role-based access.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Summarizes the project scope requested in this task: availability checking, booking, RBAC, and persistence.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Based on the motivation stated through the user's repeated classroom availability and booking requirements.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Uses the final requested KAHE CMS feature set from this project task.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Derived from local project stack and deployment requirements discussed in the current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Expected results are based on the user's product requirements and scale targets.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Conclusion synthesized from the project goal, role-based design, MySQL persistence need, and chosen theme.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130e892ae944b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49579361484e5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1f9f91797d455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dad331c03842b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208e4c30264ce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1e0634c131407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9247b29b514dd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3ef6382b99418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8f88ead01b45d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5466eca4d943d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0f0a8b288a4df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AE544A4-59A6-4B63-B943-D2F2613314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A4276F8-626A-42DB-BA65-BB3F76B1A70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0AC486-4E8B-448F-A489-CB78FB755A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8/5/2026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1F0467D-A5BF-4003-875B-3C365C5C0A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AE3C9B-F80A-4017-AE67-12D22CDE99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EE70D58-70E6-4EA8-8E1A-AE7A556F83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18AFE95-7B78-46EA-B31F-81D6A4577CF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224CAD8-9DCF-4D69-91C2-95B7A7CDB44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8/5/2026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04FD3FD-4369-4007-884A-3395A9AE90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02870F4-29CF-421F-9622-4D35AA738B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F9A8608-5D79-4DE5-97AE-F74D220F8B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E6BF2F3-6497-4123-B368-7AB62B57D5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E220E39-32CB-4AC1-BA78-B94CACE5BC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8/5/2026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9D35FE1-FCAA-47B8-BEE5-89105CD69B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8D8A0D5-69CC-4907-9BEC-95DB5389DA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90A7CF1-2AA4-4DAE-A0A7-98F3FCF05F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C1465EA-0E2D-4CEF-9EBA-D3B2A24D881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072FEB4-8659-4D21-869A-4D6DFBE27E1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A5760F9-4429-4CB7-86DA-19EEEA7FCF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8/5/2026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BEB2FCB-360A-4A5E-B6C5-77898C454B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055876C-B906-45A5-B438-52BD3F5B3E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5D3D9B5-8E59-4AEC-BC22-873B5B3007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278AE22-49E9-46E5-9851-AA7F26B0CA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F47449-46EE-4B88-8411-5C548A3C1E9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950C47A-9EA1-416D-8C90-DE4C18B63DB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37C271A-12CA-42C9-A4BB-9F2C86C719B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364247C-4B4D-43D3-A89C-A97B991ED44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8/5/2026</a:t>
            </a:fld>
            <a:endParaRPr/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DB8998E-CB3E-41B7-94EF-FDCE93BF1F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4E05246-1CA2-4729-B751-92C214EEF2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CAA1314-34B9-41B0-93AC-24E97B5993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1662039-1676-4ECA-A4FB-0F68A5A5BD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8/5/2026</a:t>
            </a:fld>
            <a:endParaRPr/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8387D65-2EBE-4DA6-B5CD-CBF61E3B40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47325-B698-4635-BE69-F3379B9141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48E206F-635E-45F0-A10C-57A23EDBB1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8/5/2026</a:t>
            </a:fld>
            <a:endParaRPr/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5BBF81E-A868-4830-BF09-AC1BE3D0E5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143AE6D-E63D-4AE2-9E90-BCBF153F7A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EF33DD-47CB-412B-8A5D-CEB668FF09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D061A1D-6BCA-465F-B169-869F4C7D66A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88E3A0B-64C8-4FE0-BA08-16149AE2A23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D1E4EF-0E0B-4C5F-82B7-A83BABD61B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8/5/2026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71B7645-6326-4F26-8986-B68C6C5099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1E2300D-109A-4432-8CC9-4CFEEB55C4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118BF9A-ADA6-49A9-A0DE-62D95925B2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59E7A18-646E-4054-A386-BAFFF68E707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C0E2DAA-12A0-498D-B637-09FE8846B15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0593154-E2BB-497B-A46A-B1B40AAEFD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8/5/2026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2DB76A-9AC0-4CA0-8036-E1C11D06D06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9D22F96-7320-480C-9BF3-EDA715F0F8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16FDE9-8A61-4A2D-9A81-05C1D31FD8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0ED4AE-CD97-47B0-B42D-E64DFD3469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B60BAE6-E6CC-4DD5-9D74-2FADFC1A65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8/5/2026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4BB69E7-0457-42B8-81F4-DC277D36E7A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0BD95E7-9E01-4849-BA9D-5B5E571BA9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0890957C-D05D-4C9E-8C3F-8B8CFBF716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BA4839B-0F79-4E4B-9721-CDF077AAC0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5621B8E-D3C3-4FF8-A4DE-FBC6A83EC6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8/5/2026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BBE75A7-5A2A-410F-8914-E0D480B2E9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10E017B-393A-45C8-B129-AFA3104F98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20b775c6da4b9c" /><Relationship Type="http://schemas.openxmlformats.org/officeDocument/2006/relationships/slideLayout" Target="/ppt/slideLayouts/slideLayout1.xml" Id="R553224c499324c61" /><Relationship Type="http://schemas.openxmlformats.org/officeDocument/2006/relationships/slideLayout" Target="/ppt/slideLayouts/slideLayout2.xml" Id="R379fc58ee2954e5a" /><Relationship Type="http://schemas.openxmlformats.org/officeDocument/2006/relationships/slideLayout" Target="/ppt/slideLayouts/slideLayout3.xml" Id="Re045f77a36d04ebd" /><Relationship Type="http://schemas.openxmlformats.org/officeDocument/2006/relationships/slideLayout" Target="/ppt/slideLayouts/slideLayout4.xml" Id="R4bcaa203f17d4ba7" /><Relationship Type="http://schemas.openxmlformats.org/officeDocument/2006/relationships/slideLayout" Target="/ppt/slideLayouts/slideLayout5.xml" Id="R71695575ce784236" /><Relationship Type="http://schemas.openxmlformats.org/officeDocument/2006/relationships/slideLayout" Target="/ppt/slideLayouts/slideLayout6.xml" Id="R117d887b3c214d21" /><Relationship Type="http://schemas.openxmlformats.org/officeDocument/2006/relationships/slideLayout" Target="/ppt/slideLayouts/slideLayout7.xml" Id="Rf23ce8cefa90490a" /><Relationship Type="http://schemas.openxmlformats.org/officeDocument/2006/relationships/slideLayout" Target="/ppt/slideLayouts/slideLayout8.xml" Id="Ra89b441d78264784" /><Relationship Type="http://schemas.openxmlformats.org/officeDocument/2006/relationships/slideLayout" Target="/ppt/slideLayouts/slideLayout9.xml" Id="Ra5bbae4036454955" /><Relationship Type="http://schemas.openxmlformats.org/officeDocument/2006/relationships/slideLayout" Target="/ppt/slideLayouts/slideLayout10.xml" Id="R4edc5c450347436d" /><Relationship Type="http://schemas.openxmlformats.org/officeDocument/2006/relationships/slideLayout" Target="/ppt/slideLayouts/slideLayout11.xml" Id="Ra826347f3a704c5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318D0B25-498C-44B2-9F52-29B92EE6A4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E3FB78D-7815-4DC2-96EF-79A24EDAEA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90EED28-81B7-4947-910F-BE01152D913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8/5/2026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9805290-DBAD-4E18-8722-3CC4EA2C985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E05CB1A-FB48-4B58-8E9D-14BE6349E2B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3224c499324c61"/>
    <p:sldLayoutId xmlns:r="http://schemas.openxmlformats.org/officeDocument/2006/relationships" id="2147483650" r:id="R379fc58ee2954e5a"/>
    <p:sldLayoutId xmlns:r="http://schemas.openxmlformats.org/officeDocument/2006/relationships" id="2147483651" r:id="Re045f77a36d04ebd"/>
    <p:sldLayoutId xmlns:r="http://schemas.openxmlformats.org/officeDocument/2006/relationships" id="2147483652" r:id="R4bcaa203f17d4ba7"/>
    <p:sldLayoutId xmlns:r="http://schemas.openxmlformats.org/officeDocument/2006/relationships" id="2147483653" r:id="R71695575ce784236"/>
    <p:sldLayoutId xmlns:r="http://schemas.openxmlformats.org/officeDocument/2006/relationships" id="2147483654" r:id="R117d887b3c214d21"/>
    <p:sldLayoutId xmlns:r="http://schemas.openxmlformats.org/officeDocument/2006/relationships" id="2147483655" r:id="Rf23ce8cefa90490a"/>
    <p:sldLayoutId xmlns:r="http://schemas.openxmlformats.org/officeDocument/2006/relationships" id="2147483656" r:id="Ra89b441d78264784"/>
    <p:sldLayoutId xmlns:r="http://schemas.openxmlformats.org/officeDocument/2006/relationships" id="2147483657" r:id="Ra5bbae4036454955"/>
    <p:sldLayoutId xmlns:r="http://schemas.openxmlformats.org/officeDocument/2006/relationships" id="2147483658" r:id="R4edc5c450347436d"/>
    <p:sldLayoutId xmlns:r="http://schemas.openxmlformats.org/officeDocument/2006/relationships" id="2147483659" r:id="Ra826347f3a704c5c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9d5aceae15471a" /><Relationship Type="http://schemas.openxmlformats.org/officeDocument/2006/relationships/image" Target="/ppt/media/image.png" Id="R53a062e1418944e9" /><Relationship Type="http://schemas.openxmlformats.org/officeDocument/2006/relationships/image" Target="/ppt/media/image2.png" Id="Rb6f2fde05a7b4975" /><Relationship Type="http://schemas.openxmlformats.org/officeDocument/2006/relationships/notesSlide" Target="/ppt/notesSlides/notesSlide1.xml" Id="Rfaf7c57035494b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e0552055af4a09" /><Relationship Type="http://schemas.openxmlformats.org/officeDocument/2006/relationships/image" Target="/ppt/media/image2.png" Id="Re5f7e11c4fa34d39" /><Relationship Type="http://schemas.openxmlformats.org/officeDocument/2006/relationships/notesSlide" Target="/ppt/notesSlides/notesSlide2.xml" Id="R864944dfeb0e42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5e1d9033b340e5" /><Relationship Type="http://schemas.openxmlformats.org/officeDocument/2006/relationships/image" Target="/ppt/media/image2.png" Id="Rea14e95dc3f545b1" /><Relationship Type="http://schemas.openxmlformats.org/officeDocument/2006/relationships/notesSlide" Target="/ppt/notesSlides/notesSlide3.xml" Id="R974ed246ed4447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3ca58fb2ed4d3a" /><Relationship Type="http://schemas.openxmlformats.org/officeDocument/2006/relationships/image" Target="/ppt/media/image2.png" Id="Rfe92f83aa0ec475e" /><Relationship Type="http://schemas.openxmlformats.org/officeDocument/2006/relationships/notesSlide" Target="/ppt/notesSlides/notesSlide4.xml" Id="R445f5019f8944b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606446bfa3429f" /><Relationship Type="http://schemas.openxmlformats.org/officeDocument/2006/relationships/image" Target="/ppt/media/image2.png" Id="R06567797a87a4214" /><Relationship Type="http://schemas.openxmlformats.org/officeDocument/2006/relationships/notesSlide" Target="/ppt/notesSlides/notesSlide5.xml" Id="Rc68735d73f4c48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770138c5a64b6c" /><Relationship Type="http://schemas.openxmlformats.org/officeDocument/2006/relationships/image" Target="/ppt/media/image2.png" Id="R8399208ecd114005" /><Relationship Type="http://schemas.openxmlformats.org/officeDocument/2006/relationships/notesSlide" Target="/ppt/notesSlides/notesSlide6.xml" Id="Rf8a8f2e823a04d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7be425b86e42ec" /><Relationship Type="http://schemas.openxmlformats.org/officeDocument/2006/relationships/image" Target="/ppt/media/image2.png" Id="R22bd5803b78141e7" /><Relationship Type="http://schemas.openxmlformats.org/officeDocument/2006/relationships/notesSlide" Target="/ppt/notesSlides/notesSlide7.xml" Id="R74d8ebdd4c4e43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027c8ca8fa480a" /><Relationship Type="http://schemas.openxmlformats.org/officeDocument/2006/relationships/image" Target="/ppt/media/image2.png" Id="R1a59e59f921642da" /><Relationship Type="http://schemas.openxmlformats.org/officeDocument/2006/relationships/notesSlide" Target="/ppt/notesSlides/notesSlide8.xml" Id="Rbac7808d87ba46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a4e35a03d148ee" /><Relationship Type="http://schemas.openxmlformats.org/officeDocument/2006/relationships/image" Target="/ppt/media/image2.png" Id="R70f65cb7746b4774" /><Relationship Type="http://schemas.openxmlformats.org/officeDocument/2006/relationships/notesSlide" Target="/ppt/notesSlides/notesSlide9.xml" Id="R92b0081c065345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6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E443FD7-A66B-4AA0-872D-B088B9BC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Freeform: Shape 26">
            <a:extLst xmlns:a="http://schemas.openxmlformats.org/drawingml/2006/main"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780" y="851521"/>
            <a:ext cx="4638605" cy="5154967"/>
          </a:xfrm>
          <a:custGeom xmlns:a="http://schemas.openxmlformats.org/drawingml/2006/main"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lumMod val="50000"/>
              <a:lumOff val="50000"/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Subtitle 3">
            <a:extLst xmlns:a="http://schemas.openxmlformats.org/drawingml/2006/main">
              <a:ext uri="{FF2B5EF4-FFF2-40B4-BE49-F238E27FC236}">
                <a16:creationId xmlns:a16="http://schemas.microsoft.com/office/drawing/2014/main" id="{298CBC24-A050-42A7-BF5B-D63E21676F3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454206" y="1557645"/>
            <a:ext cx="6515101" cy="7786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TITLE PAGE</a:t>
            </a:r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C2473BBF-2F54-4C10-AE59-BBFDCED6D9A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009514" y="153763"/>
            <a:ext cx="7760543" cy="109543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KAHE Campus Management System</a:t>
            </a:r>
            <a:endParaRPr sz="4000" b="1">
              <a:solidFill>
                <a:schemeClr val="tx2"/>
              </a:solidFill>
              <a:latin typeface="Garamond"/>
              <a:ea typeface="Garamond"/>
              <a:cs typeface="Garamond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420B66B-8674-4C21-A693-DC49C1FB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514" y="2406586"/>
            <a:ext cx="8065586" cy="28581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8" indent="-18">
              <a:spcAft>
                <a:spcPts val="8"/>
              </a:spcAft>
              <a:buChar char="•"/>
            </a:pPr>
            <a:r>
              <a:rPr sz="2250">
                <a:solidFill>
                  <a:srgbClr val="000000"/>
                </a:solidFill>
              </a:rPr>
              <a:t> Title: KAHE Campus Management System</a:t>
            </a:r>
          </a:p>
          <a:p xmlns:a="http://schemas.openxmlformats.org/drawingml/2006/main">
            <a:pPr marL="28" indent="-18">
              <a:spcAft>
                <a:spcPts val="8"/>
              </a:spcAft>
              <a:buChar char="•"/>
            </a:pPr>
            <a:r>
              <a:rPr sz="2250">
                <a:solidFill>
                  <a:srgbClr val="000000"/>
                </a:solidFill>
              </a:rPr>
              <a:t> Team Name: Tech Squad</a:t>
            </a:r>
          </a:p>
          <a:p xmlns:a="http://schemas.openxmlformats.org/drawingml/2006/main">
            <a:pPr marL="28" indent="-18">
              <a:spcAft>
                <a:spcPts val="8"/>
              </a:spcAft>
              <a:buChar char="•"/>
            </a:pPr>
            <a:r>
              <a:rPr sz="2250">
                <a:solidFill>
                  <a:srgbClr val="000000"/>
                </a:solidFill>
              </a:rPr>
              <a:t> Team Members &amp; Register Numbers: Bebin R (25ADU153), Kamesh K (25ADU172)</a:t>
            </a:r>
          </a:p>
          <a:p xmlns:a="http://schemas.openxmlformats.org/drawingml/2006/main">
            <a:pPr marL="28" indent="-18">
              <a:spcAft>
                <a:spcPts val="8"/>
              </a:spcAft>
              <a:buChar char="•"/>
            </a:pPr>
            <a:r>
              <a:rPr sz="2250">
                <a:solidFill>
                  <a:srgbClr val="000000"/>
                </a:solidFill>
              </a:rPr>
              <a:t> Department: B.Sc Artificial Intelligence &amp; Data Science</a:t>
            </a:r>
          </a:p>
          <a:p xmlns:a="http://schemas.openxmlformats.org/drawingml/2006/main">
            <a:pPr marL="28" indent="-18">
              <a:spcAft>
                <a:spcPts val="8"/>
              </a:spcAft>
              <a:buChar char="•"/>
            </a:pPr>
            <a:r>
              <a:rPr sz="2250">
                <a:solidFill>
                  <a:srgbClr val="000000"/>
                </a:solidFill>
              </a:rPr>
              <a:t> Theme Chosen: AI for Better Tomorrow</a:t>
            </a:r>
          </a:p>
        </p:txBody>
      </p:sp>
      <p:pic>
        <p:nvPicPr>
          <p:cNvPr id="45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a062e1418944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728" y="23473"/>
            <a:ext cx="1648682" cy="1433544"/>
          </a:xfrm>
          <a:prstGeom xmlns:a="http://schemas.openxmlformats.org/drawingml/2006/main" prst="rect">
            <a:avLst/>
          </a:prstGeom>
        </p:spPr>
      </p:pic>
      <p:pic>
        <p:nvPicPr>
          <p:cNvPr id="4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f2fde05a7b49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81693" y="147022"/>
            <a:ext cx="1447616" cy="1095431"/>
          </a:xfrm>
          <a:prstGeom xmlns:a="http://schemas.openxmlformats.org/drawingml/2006/main" prst="rect">
            <a:avLst/>
          </a:prstGeom>
        </p:spPr>
      </p:pic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93AA918-0015-42BF-A49E-627CE5F1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9CAD99C2-5B36-42C6-873D-C2CA9B3443A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@innovision Idea submission- Template</a:t>
            </a:r>
          </a:p>
        </p:txBody>
      </p:sp>
    </p:spTree>
    <p:extLst>
      <p:ext uri="{BB962C8B-B14F-4D97-AF65-F5344CB8AC3E}">
        <p14:creationId xmlns:p14="http://schemas.microsoft.com/office/powerpoint/2010/main" val="68590898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EDECEDA-EF9E-4617-B23E-A6310B07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361" name="Title 1">
            <a:extLst xmlns:a="http://schemas.openxmlformats.org/drawingml/2006/main">
              <a:ext uri="{FF2B5EF4-FFF2-40B4-BE49-F238E27FC236}">
                <a16:creationId xmlns:a16="http://schemas.microsoft.com/office/drawing/2014/main" id="{3E22F381-E672-4A34-B875-236A9BE957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98" y="0"/>
            <a:ext cx="10972800" cy="80733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PROBLEM BACKGROUND</a:t>
            </a:r>
            <a:endParaRPr sz="36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5362" name="TextBox 8">
            <a:extLst xmlns:a="http://schemas.openxmlformats.org/drawingml/2006/main">
              <a:ext uri="{FF2B5EF4-FFF2-40B4-BE49-F238E27FC236}">
                <a16:creationId xmlns:a16="http://schemas.microsoft.com/office/drawing/2014/main" id="{6609D6E9-8E43-4696-A637-F50A4A45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08" y="1614680"/>
            <a:ext cx="12191999" cy="2262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8" indent="-18">
              <a:spcAft>
                <a:spcPts val="8"/>
              </a:spcAft>
              <a:buChar char="•"/>
            </a:pPr>
            <a:r>
              <a:rPr sz="2100">
                <a:solidFill>
                  <a:srgbClr val="000000"/>
                </a:solidFill>
              </a:rPr>
              <a:t> Domain: Campus facility and classroom availability management.</a:t>
            </a:r>
          </a:p>
          <a:p xmlns:a="http://schemas.openxmlformats.org/drawingml/2006/main">
            <a:pPr marL="28" indent="-18">
              <a:spcAft>
                <a:spcPts val="8"/>
              </a:spcAft>
              <a:buChar char="•"/>
            </a:pPr>
            <a:r>
              <a:rPr sz="2100">
                <a:solidFill>
                  <a:srgbClr val="000000"/>
                </a:solidFill>
              </a:rPr>
              <a:t> Context: Users need quick visibility into room availability, occupancy, and booking status.</a:t>
            </a:r>
          </a:p>
          <a:p xmlns:a="http://schemas.openxmlformats.org/drawingml/2006/main">
            <a:pPr marL="28" indent="-18">
              <a:spcAft>
                <a:spcPts val="8"/>
              </a:spcAft>
              <a:buChar char="•"/>
            </a:pPr>
            <a:r>
              <a:rPr sz="2100">
                <a:solidFill>
                  <a:srgbClr val="000000"/>
                </a:solidFill>
              </a:rPr>
              <a:t> Users: Admins, faculty members, and students across classroom blocks.</a:t>
            </a:r>
          </a:p>
          <a:p xmlns:a="http://schemas.openxmlformats.org/drawingml/2006/main">
            <a:pPr marL="28" indent="-18">
              <a:spcAft>
                <a:spcPts val="8"/>
              </a:spcAft>
              <a:buChar char="•"/>
            </a:pPr>
            <a:r>
              <a:rPr sz="2100">
                <a:solidFill>
                  <a:srgbClr val="000000"/>
                </a:solidFill>
              </a:rPr>
              <a:t> Significance: Manual tracking causes confusion, double booking, and delayed class starts.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042B34B-47DD-4F07-BA90-0F4ED67742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2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33900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Tech Squad</a:t>
            </a:r>
            <a:endParaRPr/>
          </a:p>
        </p:txBody>
      </p:sp>
      <p:sp>
        <p:nvSpPr>
          <p:cNvPr id="15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AF8D02CC-4F87-496E-BF20-0A99A7093E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@innovision Idea submission- Template</a:t>
            </a:r>
          </a:p>
        </p:txBody>
      </p:sp>
      <p:pic>
        <p:nvPicPr>
          <p:cNvPr id="15370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f7e11c4fa34d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61386" y="99103"/>
            <a:ext cx="1447616" cy="109543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56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D79AE67B-84AB-4E65-A81F-15197CF04C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3C057EEA-6068-40CC-90F2-CE26A789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2254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8" indent="-18">
              <a:spcAft>
                <a:spcPts val="8"/>
              </a:spcAft>
              <a:buChar char="•"/>
            </a:pPr>
            <a:r>
              <a:rPr sz="2025">
                <a:solidFill>
                  <a:srgbClr val="000000"/>
                </a:solidFill>
              </a:rPr>
              <a:t> Front End: React-based responsive dashboard for Admin, Faculty, and Student users.</a:t>
            </a:r>
          </a:p>
          <a:p xmlns:a="http://schemas.openxmlformats.org/drawingml/2006/main">
            <a:pPr marL="28" indent="-18">
              <a:spcAft>
                <a:spcPts val="8"/>
              </a:spcAft>
              <a:buChar char="•"/>
            </a:pPr>
            <a:r>
              <a:rPr sz="2025">
                <a:solidFill>
                  <a:srgbClr val="000000"/>
                </a:solidFill>
              </a:rPr>
              <a:t> Back End: Django REST APIs for authentication, classrooms, departments, subjects, bookings, and sessions.</a:t>
            </a:r>
          </a:p>
          <a:p xmlns:a="http://schemas.openxmlformats.org/drawingml/2006/main">
            <a:pPr marL="28" indent="-18">
              <a:spcAft>
                <a:spcPts val="8"/>
              </a:spcAft>
              <a:buChar char="•"/>
            </a:pPr>
            <a:r>
              <a:rPr sz="2025">
                <a:solidFill>
                  <a:srgbClr val="000000"/>
                </a:solidFill>
              </a:rPr>
              <a:t> Database: MySQL as the single source of truth for users, rooms, departments, subjects, and bookings.</a:t>
            </a:r>
          </a:p>
          <a:p xmlns:a="http://schemas.openxmlformats.org/drawingml/2006/main">
            <a:pPr marL="28" indent="-18">
              <a:spcAft>
                <a:spcPts val="8"/>
              </a:spcAft>
              <a:buChar char="•"/>
            </a:pPr>
            <a:r>
              <a:rPr sz="2025">
                <a:solidFill>
                  <a:srgbClr val="000000"/>
                </a:solidFill>
              </a:rPr>
              <a:t> Process: Login -&gt; block-wise classroom list -&gt; booking/start class workflow -&gt; status sync.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02E093F-8646-425B-BD78-90F1E17783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Tech Squad</a:t>
            </a:r>
            <a:endParaRPr/>
          </a:p>
        </p:txBody>
      </p:sp>
      <p:sp>
        <p:nvSpPr>
          <p:cNvPr id="13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B472B378-68D6-480F-85D3-9F6CFF1E5E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@innovision Idea submission- Template</a:t>
            </a:r>
          </a:p>
        </p:txBody>
      </p:sp>
      <p:pic>
        <p:nvPicPr>
          <p:cNvPr id="17418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14e95dc3f545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31990" y="340696"/>
            <a:ext cx="1447616" cy="109543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901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88DFCD43-AA12-4E8C-B302-8F69803A79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PROBLEM STATEMENT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324A56E1-E644-4258-83A4-5D2B7202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" y="2190753"/>
            <a:ext cx="9385300" cy="2016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8" indent="-18">
              <a:spcAft>
                <a:spcPts val="8"/>
              </a:spcAft>
              <a:buChar char="•"/>
            </a:pPr>
            <a:r>
              <a:rPr sz="2100">
                <a:solidFill>
                  <a:srgbClr val="000000"/>
                </a:solidFill>
              </a:rPr>
              <a:t> Build a campus management system that checks classroom availability in real time.</a:t>
            </a:r>
          </a:p>
          <a:p xmlns:a="http://schemas.openxmlformats.org/drawingml/2006/main">
            <a:pPr marL="28" indent="-18">
              <a:spcAft>
                <a:spcPts val="8"/>
              </a:spcAft>
              <a:buChar char="•"/>
            </a:pPr>
            <a:r>
              <a:rPr sz="2100">
                <a:solidFill>
                  <a:srgbClr val="000000"/>
                </a:solidFill>
              </a:rPr>
              <a:t> Prevent booking confusion with clear Available, Non-Available, and Booked status.</a:t>
            </a:r>
          </a:p>
          <a:p xmlns:a="http://schemas.openxmlformats.org/drawingml/2006/main">
            <a:pPr marL="28" indent="-18">
              <a:spcAft>
                <a:spcPts val="8"/>
              </a:spcAft>
              <a:buChar char="•"/>
            </a:pPr>
            <a:r>
              <a:rPr sz="2100">
                <a:solidFill>
                  <a:srgbClr val="000000"/>
                </a:solidFill>
              </a:rPr>
              <a:t> Give Admin, Faculty, and Student users only the access they are authorized to use.</a:t>
            </a:r>
          </a:p>
          <a:p xmlns:a="http://schemas.openxmlformats.org/drawingml/2006/main">
            <a:pPr marL="28" indent="-18">
              <a:spcAft>
                <a:spcPts val="8"/>
              </a:spcAft>
              <a:buChar char="•"/>
            </a:pPr>
            <a:r>
              <a:rPr sz="2100">
                <a:solidFill>
                  <a:srgbClr val="000000"/>
                </a:solidFill>
              </a:rPr>
              <a:t> Persist all important records reliably in the connected MySQL database.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E15E5B1-6410-4888-9789-878594B05F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Tech Squad</a:t>
            </a:r>
            <a:endParaRPr/>
          </a:p>
        </p:txBody>
      </p:sp>
      <p:sp>
        <p:nvSpPr>
          <p:cNvPr id="13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C7E8EFF2-9DCF-40D0-8240-73313EF6BE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@innovision Idea submission- Template</a:t>
            </a:r>
          </a:p>
        </p:txBody>
      </p:sp>
      <p:pic>
        <p:nvPicPr>
          <p:cNvPr id="17418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92f83aa0ec47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31990" y="340696"/>
            <a:ext cx="1447616" cy="109543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F844B3A2-468C-49CB-8A43-771D5BAD4B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EXISTING SYSTEM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D7AE7296-EC5D-43C1-9CAF-77394707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1456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8" indent="-18">
              <a:spcAft>
                <a:spcPts val="8"/>
              </a:spcAft>
              <a:buChar char="•"/>
            </a:pPr>
            <a:r>
              <a:rPr sz="2100">
                <a:solidFill>
                  <a:srgbClr val="000000"/>
                </a:solidFill>
              </a:rPr>
              <a:t> Classroom usage is often tracked manually or through disconnected records.</a:t>
            </a:r>
          </a:p>
          <a:p xmlns:a="http://schemas.openxmlformats.org/drawingml/2006/main">
            <a:pPr marL="28" indent="-18">
              <a:spcAft>
                <a:spcPts val="8"/>
              </a:spcAft>
              <a:buChar char="•"/>
            </a:pPr>
            <a:r>
              <a:rPr sz="2100">
                <a:solidFill>
                  <a:srgbClr val="000000"/>
                </a:solidFill>
              </a:rPr>
              <a:t> Faculty may not know whether a room is available, occupied, or already booked.</a:t>
            </a:r>
          </a:p>
          <a:p xmlns:a="http://schemas.openxmlformats.org/drawingml/2006/main">
            <a:pPr marL="28" indent="-18">
              <a:spcAft>
                <a:spcPts val="8"/>
              </a:spcAft>
              <a:buChar char="•"/>
            </a:pPr>
            <a:r>
              <a:rPr sz="2100">
                <a:solidFill>
                  <a:srgbClr val="000000"/>
                </a:solidFill>
              </a:rPr>
              <a:t> Students cannot easily check room availability before moving between blocks.</a:t>
            </a:r>
          </a:p>
          <a:p xmlns:a="http://schemas.openxmlformats.org/drawingml/2006/main">
            <a:pPr marL="28" indent="-18">
              <a:spcAft>
                <a:spcPts val="8"/>
              </a:spcAft>
              <a:buChar char="•"/>
            </a:pPr>
            <a:r>
              <a:rPr sz="2100">
                <a:solidFill>
                  <a:srgbClr val="000000"/>
                </a:solidFill>
              </a:rPr>
              <a:t> Manual updates do not scale well for hundreds of rooms and many users.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E80401-A61E-4958-AD1C-2C27E19185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Tech Squad</a:t>
            </a:r>
            <a:endParaRPr/>
          </a:p>
        </p:txBody>
      </p:sp>
      <p:sp>
        <p:nvSpPr>
          <p:cNvPr id="13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9BBA6C0-7DDD-423B-BFFC-9EC0FD409C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@innovision Idea submission- Template</a:t>
            </a:r>
          </a:p>
        </p:txBody>
      </p:sp>
      <p:pic>
        <p:nvPicPr>
          <p:cNvPr id="17418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567797a87a42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31990" y="340696"/>
            <a:ext cx="1447616" cy="109543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88AF4CAC-274D-4EAA-83EB-CB4F8E6CDF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PROPOSED SOLUTION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DB8DF079-D945-48F6-85DF-BA136BE1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01" y="1935220"/>
            <a:ext cx="9385300" cy="2016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8" indent="-18">
              <a:spcAft>
                <a:spcPts val="8"/>
              </a:spcAft>
              <a:buChar char="•"/>
            </a:pPr>
            <a:r>
              <a:rPr sz="2100">
                <a:solidFill>
                  <a:srgbClr val="000000"/>
                </a:solidFill>
              </a:rPr>
              <a:t> KAHE CMS provides a role-based portal for classroom availability and booking.</a:t>
            </a:r>
          </a:p>
          <a:p xmlns:a="http://schemas.openxmlformats.org/drawingml/2006/main">
            <a:pPr marL="28" indent="-18">
              <a:spcAft>
                <a:spcPts val="8"/>
              </a:spcAft>
              <a:buChar char="•"/>
            </a:pPr>
            <a:r>
              <a:rPr sz="2100">
                <a:solidFill>
                  <a:srgbClr val="000000"/>
                </a:solidFill>
              </a:rPr>
              <a:t> Admins can manage classrooms block-wise, users, departments, and subjects.</a:t>
            </a:r>
          </a:p>
          <a:p xmlns:a="http://schemas.openxmlformats.org/drawingml/2006/main">
            <a:pPr marL="28" indent="-18">
              <a:spcAft>
                <a:spcPts val="8"/>
              </a:spcAft>
              <a:buChar char="•"/>
            </a:pPr>
            <a:r>
              <a:rPr sz="2100">
                <a:solidFill>
                  <a:srgbClr val="000000"/>
                </a:solidFill>
              </a:rPr>
              <a:t> Faculty can view rooms, book classrooms, start/end classes, and select approved subjects.</a:t>
            </a:r>
          </a:p>
          <a:p xmlns:a="http://schemas.openxmlformats.org/drawingml/2006/main">
            <a:pPr marL="28" indent="-18">
              <a:spcAft>
                <a:spcPts val="8"/>
              </a:spcAft>
              <a:buChar char="•"/>
            </a:pPr>
            <a:r>
              <a:rPr sz="2100">
                <a:solidFill>
                  <a:srgbClr val="000000"/>
                </a:solidFill>
              </a:rPr>
              <a:t> Students can view classroom status and account settings with view-only access.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5E594DA-ACBC-40FC-A998-3D17D9C0C7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Tech Squad</a:t>
            </a:r>
            <a:endParaRPr/>
          </a:p>
        </p:txBody>
      </p:sp>
      <p:sp>
        <p:nvSpPr>
          <p:cNvPr id="13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4BB0E002-DF6E-4368-A017-2857A987D5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@innovision Idea submission- Template</a:t>
            </a:r>
          </a:p>
        </p:txBody>
      </p:sp>
      <p:pic>
        <p:nvPicPr>
          <p:cNvPr id="17418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99208ecd1140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31990" y="340696"/>
            <a:ext cx="1447616" cy="109543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485DD00-8CA2-44A8-BA4C-8166786219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57500" y="206379"/>
            <a:ext cx="8602500" cy="80733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PROPOSED TECHNOLOGY STACK</a:t>
            </a:r>
            <a:endParaRPr sz="36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0269568-38E6-4414-AA55-4ECE7BB8151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599" y="1848167"/>
            <a:ext cx="10972800" cy="50307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8" indent="-18">
              <a:spcAft>
                <a:spcPts val="8"/>
              </a:spcAft>
              <a:buChar char="•"/>
            </a:pPr>
            <a:r>
              <a:rPr sz="2100">
                <a:solidFill>
                  <a:srgbClr val="000000"/>
                </a:solidFill>
              </a:rPr>
              <a:t> Front End: React, CSS, Lucide icons, and responsive UI components.</a:t>
            </a:r>
          </a:p>
          <a:p xmlns:a="http://schemas.openxmlformats.org/drawingml/2006/main">
            <a:pPr marL="28" indent="-18">
              <a:spcAft>
                <a:spcPts val="8"/>
              </a:spcAft>
              <a:buChar char="•"/>
            </a:pPr>
            <a:r>
              <a:rPr sz="2100">
                <a:solidFill>
                  <a:srgbClr val="000000"/>
                </a:solidFill>
              </a:rPr>
              <a:t> Back End: Django, Django REST Framework, and role/permission APIs.</a:t>
            </a:r>
          </a:p>
          <a:p xmlns:a="http://schemas.openxmlformats.org/drawingml/2006/main">
            <a:pPr marL="28" indent="-18">
              <a:spcAft>
                <a:spcPts val="8"/>
              </a:spcAft>
              <a:buChar char="•"/>
            </a:pPr>
            <a:r>
              <a:rPr sz="2100">
                <a:solidFill>
                  <a:srgbClr val="000000"/>
                </a:solidFill>
              </a:rPr>
              <a:t> Database: MySQL with normalized records for users, rooms, departments, subjects, and bookings.</a:t>
            </a:r>
          </a:p>
          <a:p xmlns:a="http://schemas.openxmlformats.org/drawingml/2006/main">
            <a:pPr marL="28" indent="-18">
              <a:spcAft>
                <a:spcPts val="8"/>
              </a:spcAft>
              <a:buChar char="•"/>
            </a:pPr>
            <a:r>
              <a:rPr sz="2100">
                <a:solidFill>
                  <a:srgbClr val="000000"/>
                </a:solidFill>
              </a:rPr>
              <a:t> Deployment: Render web service with environment-based database configuration.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4D386E28-D65F-44CF-B306-D9611F917B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t>7</a:t>
            </a:fld>
            <a:endParaRPr/>
          </a:p>
        </p:txBody>
      </p:sp>
      <p:pic>
        <p:nvPicPr>
          <p:cNvPr id="1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bd5803b78141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34500" y="136522"/>
            <a:ext cx="1447616" cy="1095431"/>
          </a:xfrm>
          <a:prstGeom xmlns:a="http://schemas.openxmlformats.org/drawingml/2006/main" prst="rect">
            <a:avLst/>
          </a:prstGeom>
        </p:spPr>
      </p:pic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4568C3E-8C3B-4070-AFC3-AE0FBB7D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AFCFE32A-591F-4921-B8BE-031DCD4224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@innovision Idea submission- Template</a:t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FD818AD8-17B7-4C62-A2AB-E72E48C2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4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Tech Squad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7291859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B0AA3A7-994D-4B08-A8AE-C59398182D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EXPECTED OUTCOME</a:t>
            </a:r>
            <a:endParaRPr sz="36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E000FFA-4502-4F0A-98A8-CB88C6E252F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29773" y="1227572"/>
            <a:ext cx="10700177" cy="358445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8" indent="-18">
              <a:spcAft>
                <a:spcPts val="8"/>
              </a:spcAft>
              <a:buChar char="•"/>
            </a:pPr>
            <a:r>
              <a:rPr sz="2100">
                <a:solidFill>
                  <a:srgbClr val="000000"/>
                </a:solidFill>
              </a:rPr>
              <a:t> Fast block-wise classroom availability checking for Admin, Faculty, and Students.</a:t>
            </a:r>
          </a:p>
          <a:p xmlns:a="http://schemas.openxmlformats.org/drawingml/2006/main">
            <a:pPr marL="28" indent="-18">
              <a:spcAft>
                <a:spcPts val="8"/>
              </a:spcAft>
              <a:buChar char="•"/>
            </a:pPr>
            <a:r>
              <a:rPr sz="2100">
                <a:solidFill>
                  <a:srgbClr val="000000"/>
                </a:solidFill>
              </a:rPr>
              <a:t> Reduced conflicts through Available, Non-Available, and Booked filters.</a:t>
            </a:r>
          </a:p>
          <a:p xmlns:a="http://schemas.openxmlformats.org/drawingml/2006/main">
            <a:pPr marL="28" indent="-18">
              <a:spcAft>
                <a:spcPts val="8"/>
              </a:spcAft>
              <a:buChar char="•"/>
            </a:pPr>
            <a:r>
              <a:rPr sz="2100">
                <a:solidFill>
                  <a:srgbClr val="000000"/>
                </a:solidFill>
              </a:rPr>
              <a:t> Permanent storage of classroom, user, department, subject, booking, and session data.</a:t>
            </a:r>
          </a:p>
          <a:p xmlns:a="http://schemas.openxmlformats.org/drawingml/2006/main">
            <a:pPr marL="28" indent="-18">
              <a:spcAft>
                <a:spcPts val="8"/>
              </a:spcAft>
              <a:buChar char="•"/>
            </a:pPr>
            <a:r>
              <a:rPr sz="2100">
                <a:solidFill>
                  <a:srgbClr val="000000"/>
                </a:solidFill>
              </a:rPr>
              <a:t> A smoother campus workflow that supports large-scale future usage.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B152982-135E-49CE-98DB-C29F10D3AA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t>8</a:t>
            </a:fld>
            <a:endParaRPr/>
          </a:p>
        </p:txBody>
      </p:sp>
      <p:pic>
        <p:nvPicPr>
          <p:cNvPr id="14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59e59f921642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31990" y="340696"/>
            <a:ext cx="1447616" cy="1095431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9954186-15AE-4673-AE81-8A72813D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AAFAD040-6781-44A0-AC08-C329063A90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@innovision Idea submission- Template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423C4F98-AE40-4A06-B313-2FC1DF56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53" y="195973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Tech Squad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9526077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B0AA3A7-994D-4B08-A8AE-C59398182D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CONCLUSION</a:t>
            </a:r>
            <a:endParaRPr sz="36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E000FFA-4502-4F0A-98A8-CB88C6E252F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20410" y="1323179"/>
            <a:ext cx="10972800" cy="50307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8" indent="-18">
              <a:spcAft>
                <a:spcPts val="8"/>
              </a:spcAft>
              <a:buChar char="•"/>
            </a:pPr>
            <a:r>
              <a:rPr sz="2100">
                <a:solidFill>
                  <a:srgbClr val="000000"/>
                </a:solidFill>
              </a:rPr>
              <a:t> KAHE CMS improves classroom visibility and reduces manual coordination.</a:t>
            </a:r>
          </a:p>
          <a:p xmlns:a="http://schemas.openxmlformats.org/drawingml/2006/main">
            <a:pPr marL="28" indent="-18">
              <a:spcAft>
                <a:spcPts val="8"/>
              </a:spcAft>
              <a:buChar char="•"/>
            </a:pPr>
            <a:r>
              <a:rPr sz="2100">
                <a:solidFill>
                  <a:srgbClr val="000000"/>
                </a:solidFill>
              </a:rPr>
              <a:t> The project supports Admin, Faculty, and Student workflows through secure role-based access.</a:t>
            </a:r>
          </a:p>
          <a:p xmlns:a="http://schemas.openxmlformats.org/drawingml/2006/main">
            <a:pPr marL="28" indent="-18">
              <a:spcAft>
                <a:spcPts val="8"/>
              </a:spcAft>
              <a:buChar char="•"/>
            </a:pPr>
            <a:r>
              <a:rPr sz="2100">
                <a:solidFill>
                  <a:srgbClr val="000000"/>
                </a:solidFill>
              </a:rPr>
              <a:t> MySQL persistence keeps important campus data available after refresh, restart, or deployment.</a:t>
            </a:r>
          </a:p>
          <a:p xmlns:a="http://schemas.openxmlformats.org/drawingml/2006/main">
            <a:pPr marL="28" indent="-18">
              <a:spcAft>
                <a:spcPts val="8"/>
              </a:spcAft>
              <a:buChar char="•"/>
            </a:pPr>
            <a:r>
              <a:rPr sz="2100">
                <a:solidFill>
                  <a:srgbClr val="000000"/>
                </a:solidFill>
              </a:rPr>
              <a:t> The solution supports AI for Better Tomorrow through smarter academic operations.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B152982-135E-49CE-98DB-C29F10D3AA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t>9</a:t>
            </a:fld>
            <a:endParaRPr/>
          </a:p>
        </p:txBody>
      </p:sp>
      <p:pic>
        <p:nvPicPr>
          <p:cNvPr id="14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f65cb7746b47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31990" y="340696"/>
            <a:ext cx="1447616" cy="1095431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F92FB07-F630-47CC-B91C-A8818223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27B3AC37-0A5D-4BF2-ABDC-808EB52F73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@innovision Idea submission- Template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DF82FC79-BA36-4351-B0A8-8162D9A8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Tech Squad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8295977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2026-08-11T16:04:43.1790000Z</dcterms:created>
  <dcterms:modified xsi:type="dcterms:W3CDTF">2026-08-11T16:04:43.1790000Z</dcterms:modified>
</coreProperties>
</file>