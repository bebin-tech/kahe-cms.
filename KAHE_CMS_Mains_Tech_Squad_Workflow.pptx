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EA993E-6409-4564-9119-C3BE66534486}" v="1" dt="2026-08-14T03:35:58.1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bin R" userId="88bcc92be1cba84e" providerId="LiveId" clId="{C9AD1B1B-9884-4D9C-93FF-D441496573D9}"/>
    <pc:docChg chg="modSld">
      <pc:chgData name="Bebin R" userId="88bcc92be1cba84e" providerId="LiveId" clId="{C9AD1B1B-9884-4D9C-93FF-D441496573D9}" dt="2026-08-14T03:35:58.113" v="12"/>
      <pc:docMkLst>
        <pc:docMk/>
      </pc:docMkLst>
      <pc:sldChg chg="modSp mod">
        <pc:chgData name="Bebin R" userId="88bcc92be1cba84e" providerId="LiveId" clId="{C9AD1B1B-9884-4D9C-93FF-D441496573D9}" dt="2026-08-14T03:35:58.113" v="12"/>
        <pc:sldMkLst>
          <pc:docMk/>
          <pc:sldMk cId="1765624291" sldId="256"/>
        </pc:sldMkLst>
        <pc:spChg chg="mod">
          <ac:chgData name="Bebin R" userId="88bcc92be1cba84e" providerId="LiveId" clId="{C9AD1B1B-9884-4D9C-93FF-D441496573D9}" dt="2026-08-14T03:35:40.026" v="10" actId="20577"/>
          <ac:spMkLst>
            <pc:docMk/>
            <pc:sldMk cId="1765624291" sldId="256"/>
            <ac:spMk id="4" creationId="{50ECF0E9-68C0-43F6-B01B-B90A2943CF66}"/>
          </ac:spMkLst>
        </pc:spChg>
        <pc:spChg chg="mod">
          <ac:chgData name="Bebin R" userId="88bcc92be1cba84e" providerId="LiveId" clId="{C9AD1B1B-9884-4D9C-93FF-D441496573D9}" dt="2026-08-14T03:35:58.113" v="12"/>
          <ac:spMkLst>
            <pc:docMk/>
            <pc:sldMk cId="1765624291" sldId="256"/>
            <ac:spMk id="10" creationId="{B993A090-4CE1-4E7A-B1BE-F7F3A96AEA7E}"/>
          </ac:spMkLst>
        </pc:spChg>
        <pc:spChg chg="mod">
          <ac:chgData name="Bebin R" userId="88bcc92be1cba84e" providerId="LiveId" clId="{C9AD1B1B-9884-4D9C-93FF-D441496573D9}" dt="2026-08-14T03:35:52.020" v="11" actId="1076"/>
          <ac:spMkLst>
            <pc:docMk/>
            <pc:sldMk cId="1765624291" sldId="256"/>
            <ac:spMk id="37" creationId="{C04BE0EF-3561-49B4-9A29-F283168A91C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title, team name, members, department, and theme. Project details from local KAHE CMS codebase and current task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[Sources]</a:t>
            </a:r>
          </a:p>
          <a:p>
            <a:pPr>
              <a:spcBef>
                <a:spcPct val="0"/>
              </a:spcBef>
              <a:buNone/>
            </a:pPr>
            <a:r>
              <a:t>Feature scope derived from local Django/React project modules: classroom booking, live rooms, sessions, role permissions, and CSP+GA recommendation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[Sources]</a:t>
            </a:r>
          </a:p>
          <a:p>
            <a:pPr>
              <a:spcBef>
                <a:spcPct val="0"/>
              </a:spcBef>
              <a:buNone/>
            </a:pPr>
            <a:r>
              <a:t>- Screenshots supplied by the user on 2026-08-14: KAHE CMS Login, Admin Dashboard, Class Rooms, and Classroom Booking screens.</a:t>
            </a:r>
          </a:p>
          <a:p>
            <a:pPr>
              <a:spcBef>
                <a:spcPct val="0"/>
              </a:spcBef>
              <a:buNone/>
            </a:pPr>
            <a:endParaRPr/>
          </a:p>
          <a:p>
            <a:pPr>
              <a:spcBef>
                <a:spcPct val="0"/>
              </a:spcBef>
              <a:buNone/>
            </a:pPr>
            <a:r>
              <a:t>Workflow explanation: Users authenticate by role, view live dashboard/classroom availability, select block/date/period for booking, then the CSP layer detects conflicts while the Genetic Algorithm ranks suitable classrooms before the booking is saved and synchronized for all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[Sources]</a:t>
            </a:r>
          </a:p>
          <a:p>
            <a:pPr>
              <a:spcBef>
                <a:spcPct val="0"/>
              </a:spcBef>
              <a:buNone/>
            </a:pPr>
            <a:r>
              <a:t>Detailed flow based on backend serializers.py booking validation and views.py score_classroom_recommendations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[Sources]</a:t>
            </a:r>
          </a:p>
          <a:p>
            <a:pPr>
              <a:spcBef>
                <a:spcPct val="0"/>
              </a:spcBef>
              <a:buNone/>
            </a:pPr>
            <a:r>
              <a:t>Algorithm details from backend/cms_project/cms/views.py and backend/cms_project/cms/serializers.py.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Validation plan derived from required booking behavior and implemented CSP/GA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Closing slide uses user-provided team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B0999-2FDF-47AE-8B36-865750908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B398A3-6ED9-485D-BD48-EB3C040D82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DA851-2E6A-440D-9BDB-49D152CD2F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60792E3-D524-454C-8AFD-A91972900BCB}" type="datetime1">
              <a:t>8/14/2026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C81A8-AF8A-44AA-BBB7-C03B7AB130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247E1-0FFB-4044-9C4E-EDF4D5E9A7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5B7E1BAA-A38D-40DE-B22C-DF9BD7D820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16CF9-9CB7-46FA-A20D-C61DD3055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847F5-975F-4D59-B754-C193835D6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CCDC9-9100-49CB-A12E-F3E48F4741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08B7524-32A2-4C20-A58C-BC3BAA1042FC}" type="datetime1">
              <a:t>8/14/2026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7C553-4742-4C94-AFC0-E37655BF4A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53B16-34E0-443E-98C3-5F2A05B879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77C3CE7-23F7-4828-823C-E0205DF2C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0869D-6C1F-4575-81FB-327A280AF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996DF-E39F-4615-81AF-C38A34DF4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517AE-BE77-49CF-966E-266BFF37694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E994447-D6B2-43BB-A877-57F1A267B999}" type="datetime1">
              <a:t>8/14/2026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AE120-2041-40A4-88EF-21B5A2DAC02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A5AD4-A1B1-488F-ABC4-2B3D5F664B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41DB31D2-2A87-4F4C-A9AD-05C6CC2B321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08664-902E-4E98-B87F-79E8ACBF3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2E2B5-C32D-458F-AD7A-E2D1DF9EF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6480B-6E47-40CC-AFC5-A4377B3A152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0DA111C-F238-43E5-9DD7-E3A6950A19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8920E16-BD35-483C-AA6B-346FC7E46DEA}" type="datetime1">
              <a:t>8/14/2026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9A98ADB-8912-4BDC-A9B3-8BF7BA8F91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21F9577-7600-4F0B-9A87-DF86497131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1FC16D9-1635-4844-816A-0A8A2160FAD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573E3-6AF9-430E-A00E-33120BB12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39FEA-A79D-462E-AF68-CB2A86946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213C3-5AC5-466B-AA5D-5C05F4485DC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5F7776-B08A-4C0E-91F1-4C68A0A5885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E272B-2910-48E7-9716-A39222AA664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023DF99-1508-4231-B65E-3A955BAE99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EAC6F8-5103-4FC0-A69E-5C6AE6469DA8}" type="datetime1">
              <a:t>8/14/2026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14F2445-D25F-44BA-A34B-36500C2C75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92326E5-7DDC-48C8-AEAC-B386F152A5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1C4100A-98DE-4944-910A-A93F5CA9F72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F2C70-6362-4246-9643-B8F236EA4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FD7A71F-493A-482A-98C7-ACC0A2D41A1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60C6921-0627-4C8F-83D5-0CF936D2FFDD}" type="datetime1">
              <a:t>8/14/2026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5A97EF1-9568-4D3B-BF0F-A0CCC3E689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C5BD7EE-F82C-4077-AF95-5A74019233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A63342B-5A73-45DC-864D-086DE78037E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7028FF2-AB34-4625-9DD9-B778E957F4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F08AD7-8103-40F8-983C-E2BA6BB9CBE0}" type="datetime1">
              <a:t>8/14/2026</a:t>
            </a:fld>
            <a:endParaRPr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532B8F7-577E-4756-B2DC-59B7B8F02EF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3600AC5-26CB-4814-BF01-18623FAB60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B635AFB3-1ACD-44AC-8702-86B1729DF03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763FF-B11E-42ED-908A-C28B71912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D27E4-3ECB-47FD-B55A-FE1C2695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A8B7B-1D63-4FE2-B99F-088A446DBAB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5AFA70C-DC70-44B3-9B9E-C9527DEEC14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DF8C06B4-9380-4A4D-AF49-A3596E17DAF5}" type="datetime1">
              <a:t>8/14/2026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40CE434-1512-49F1-B220-5E12B82D79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11FDB8E-C146-4EEE-B76D-9C32EDF160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CF15F3-5E77-4C57-9E21-50D6D1D6C02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79436-31FA-4A83-8B36-F29E3B551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6C0B-34C5-42FB-903C-943F6DD9B7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buNone/>
            </a:pP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023FB-8439-45E3-9516-4DAA485C6E7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68504F9-D437-4853-9651-6564309600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F7FDEF1-C582-4E22-9E77-D68326471F28}" type="datetime1">
              <a:t>8/14/2026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BA368AF-47B2-415C-B0C0-8DF7BE2BF5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F6AFF12-19BF-4B59-9E7D-7C86D61DB2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242169A-B3C7-4FB6-967F-AF95F4EB33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E2C0C-6944-4A34-80DB-3E71B4FD7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91DD0-E590-4746-9AA2-4AE914B5C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8CAAD-4F22-4688-8045-BEAAFB2636B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3C3A68-6922-42D3-8905-ECC2D82A3469}" type="datetime1">
              <a:t>8/14/2026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C438C-9786-48E0-A1AD-083060E7C7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627D5-63EC-4181-9F5A-39C070A1F6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94FDD027-5576-4F27-AAB6-1D994836EE7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5BEF3C-14AC-4722-A7CB-1BA065C0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22EEE-591A-4B1E-8C32-376AE5090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6F534-5E7F-4DBA-9048-BB0884C250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B69E9F4-7604-4950-A8B2-8ACDEDB1506E}" type="datetime1">
              <a:t>8/14/2026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905FC-376C-487F-BA87-6BB2F7DC55B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E70C-8B4C-4C67-8FEE-526AEB05B8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957CE61-8714-431B-A40A-01B1C5541AB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E558725-0B8C-44AA-ACB7-C806A4679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7A1705C-CA0D-4DE6-895A-602390A20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A8E10-8DD5-403A-9FBB-17F246BA50E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780A9602-A9A9-453F-AEF1-37B5837E02CD}" type="datetime1">
              <a:t>8/14/2026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E193F-67E8-47E5-BE5A-1D4C6FE8F39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51D7D-A453-49EC-AC13-74E50D02A91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noGrp="1"/>
          </p:cNvSpPr>
          <p:nvPr/>
        </p:nvSpPr>
        <p:spPr>
          <a:xfrm>
            <a:off x="5741284" y="832455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0ECF0E9-68C0-43F6-B01B-B90A2943CF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2781" y="2849405"/>
            <a:ext cx="3136684" cy="778614"/>
          </a:xfrm>
        </p:spPr>
        <p:txBody>
          <a:bodyPr/>
          <a:lstStyle/>
          <a:p>
            <a:endParaRPr b="1" dirty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329645D-507A-4A0E-9FE8-B512B4A47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715" y="1646993"/>
            <a:ext cx="10704786" cy="1095431"/>
          </a:xfrm>
        </p:spPr>
        <p:txBody>
          <a:bodyPr/>
          <a:lstStyle/>
          <a:p>
            <a:endParaRPr sz="4000" b="1" dirty="0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  <a:p>
            <a:r>
              <a:rPr dirty="0"/>
              <a:t>KAHE Campus Management System</a:t>
            </a:r>
            <a:endParaRPr sz="4000" b="1" dirty="0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93A090-4CE1-4E7A-B1BE-F7F3A96AEA7E}"/>
              </a:ext>
            </a:extLst>
          </p:cNvPr>
          <p:cNvSpPr>
            <a:spLocks noGrp="1"/>
          </p:cNvSpPr>
          <p:nvPr/>
        </p:nvSpPr>
        <p:spPr>
          <a:xfrm>
            <a:off x="986499" y="3259563"/>
            <a:ext cx="8065586" cy="3628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/>
              <a:buChar char="v"/>
              <a:tabLst>
                <a:tab pos="457200" algn="l"/>
              </a:tabLst>
            </a:pPr>
            <a:r>
              <a:rPr sz="3200" dirty="0">
                <a:latin typeface="Times New Roman"/>
                <a:ea typeface="Times New Roman"/>
                <a:cs typeface="Times New Roman"/>
              </a:rPr>
              <a:t>Title: KAHE Campus Management System</a:t>
            </a:r>
          </a:p>
          <a:p>
            <a:pPr marL="457200" marR="0" lvl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/>
              <a:buChar char="v"/>
              <a:tabLst>
                <a:tab pos="457200" algn="l"/>
              </a:tabLst>
            </a:pPr>
            <a:r>
              <a:rPr sz="3200" dirty="0">
                <a:latin typeface="Times New Roman"/>
                <a:ea typeface="Times New Roman"/>
                <a:cs typeface="Times New Roman"/>
              </a:rPr>
              <a:t>Team: Tech Squad</a:t>
            </a:r>
          </a:p>
          <a:p>
            <a:pPr marL="457200" marR="0" lvl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/>
              <a:buChar char="v"/>
              <a:tabLst>
                <a:tab pos="457200" algn="l"/>
              </a:tabLst>
            </a:pPr>
            <a:r>
              <a:rPr sz="3200" dirty="0">
                <a:latin typeface="Times New Roman"/>
                <a:ea typeface="Times New Roman"/>
                <a:cs typeface="Times New Roman"/>
              </a:rPr>
              <a:t>Members: Bebin R (25ADU153), Kamesh K (25ADU172)</a:t>
            </a:r>
          </a:p>
          <a:p>
            <a:pPr marL="457200" marR="0" lvl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/>
              <a:buChar char="v"/>
              <a:tabLst>
                <a:tab pos="457200" algn="l"/>
              </a:tabLst>
            </a:pPr>
            <a:r>
              <a:rPr sz="3200" dirty="0">
                <a:latin typeface="Times New Roman"/>
                <a:ea typeface="Times New Roman"/>
                <a:cs typeface="Times New Roman"/>
              </a:rPr>
              <a:t>Department: </a:t>
            </a:r>
            <a:r>
              <a:rPr sz="3200" dirty="0" err="1">
                <a:latin typeface="Times New Roman"/>
                <a:ea typeface="Times New Roman"/>
                <a:cs typeface="Times New Roman"/>
              </a:rPr>
              <a:t>B.Sc</a:t>
            </a:r>
            <a:r>
              <a:rPr sz="3200" dirty="0">
                <a:latin typeface="Times New Roman"/>
                <a:ea typeface="Times New Roman"/>
                <a:cs typeface="Times New Roman"/>
              </a:rPr>
              <a:t> AI &amp; Data Science</a:t>
            </a:r>
          </a:p>
          <a:p>
            <a:pPr marL="457200" marR="0" lvl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/>
              <a:buChar char="v"/>
              <a:tabLst>
                <a:tab pos="457200" algn="l"/>
              </a:tabLst>
            </a:pPr>
            <a:r>
              <a:rPr sz="3200" dirty="0">
                <a:latin typeface="Times New Roman"/>
                <a:ea typeface="Times New Roman"/>
                <a:cs typeface="Times New Roman"/>
              </a:rPr>
              <a:t>Theme: AI for Better Tomorrow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3AA918-0015-42BF-A49E-627CE5F1861A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DB8157F-3AC2-FB93-6603-5179149800F1}"/>
              </a:ext>
            </a:extLst>
          </p:cNvPr>
          <p:cNvSpPr>
            <a:spLocks noGrp="1"/>
          </p:cNvSpPr>
          <p:nvPr/>
        </p:nvSpPr>
        <p:spPr>
          <a:xfrm>
            <a:off x="1371600" y="1768085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1666350" tIns="45720" rIns="1156923" bIns="0" anchor="ctr">
            <a:spAutoFit/>
          </a:bodyPr>
          <a:lstStyle/>
          <a:p>
            <a:endParaRPr/>
          </a:p>
        </p:txBody>
      </p:sp>
      <p:pic>
        <p:nvPicPr>
          <p:cNvPr id="4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28" y="196898"/>
            <a:ext cx="1648682" cy="1433544"/>
          </a:xfrm>
          <a:prstGeom prst="rect">
            <a:avLst/>
          </a:prstGeom>
        </p:spPr>
      </p:pic>
      <p:pic>
        <p:nvPicPr>
          <p:cNvPr id="48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1693" y="415040"/>
            <a:ext cx="1447616" cy="10954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8BF94F-C521-9D82-8FA6-4EFE76BAE87C}"/>
              </a:ext>
            </a:extLst>
          </p:cNvPr>
          <p:cNvSpPr>
            <a:spLocks noGrp="1"/>
          </p:cNvSpPr>
          <p:nvPr/>
        </p:nvSpPr>
        <p:spPr>
          <a:xfrm>
            <a:off x="1749411" y="284020"/>
            <a:ext cx="89185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800" b="1" i="0" u="none" cap="none">
                <a:ln>
                  <a:noFill/>
                </a:ln>
                <a:solidFill>
                  <a:srgbClr val="333399"/>
                </a:solidFill>
                <a:latin typeface="Arial"/>
                <a:ea typeface="Arial"/>
                <a:cs typeface="Arial"/>
              </a:rPr>
              <a:t>KARPAGAM ACADEMY OF HIGHER EDUCATION</a:t>
            </a:r>
            <a:endParaRPr sz="2800" b="1" i="0" u="non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 i="1" u="none" cap="none">
                <a:ln>
                  <a:noFill/>
                </a:ln>
                <a:solidFill>
                  <a:srgbClr val="333399"/>
                </a:solidFill>
                <a:latin typeface="Arial"/>
                <a:ea typeface="Arial"/>
                <a:cs typeface="Arial"/>
              </a:rPr>
              <a:t>                 (Deemed to be University)</a:t>
            </a:r>
            <a:endParaRPr sz="2000" b="0" i="0" u="non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 i="1" u="none" cap="none">
                <a:ln>
                  <a:noFill/>
                </a:ln>
                <a:solidFill>
                  <a:srgbClr val="333399"/>
                </a:solidFill>
                <a:latin typeface="Arial"/>
                <a:ea typeface="Arial"/>
                <a:cs typeface="Arial"/>
              </a:rPr>
              <a:t>(Established Under Section 3 of UGC Act 1956)</a:t>
            </a:r>
            <a:endParaRPr sz="2000" b="0" i="0" u="non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>
                <a:solidFill>
                  <a:srgbClr val="333399"/>
                </a:solidFill>
                <a:latin typeface="Arial"/>
                <a:ea typeface="Arial"/>
                <a:cs typeface="Arial"/>
              </a:rPr>
              <a:t>Accredited with A+ Grade by NAAC in the Second Cycle</a:t>
            </a:r>
            <a:endParaRPr sz="2000" b="1" i="0" u="none" cap="none" baseline="0">
              <a:ln>
                <a:noFill/>
              </a:ln>
              <a:solidFill>
                <a:srgbClr val="333399"/>
              </a:solidFill>
              <a:latin typeface="Arial"/>
              <a:ea typeface="Arial"/>
              <a:cs typeface="Arial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srgbClr val="333399"/>
                </a:solidFill>
                <a:latin typeface="Arial"/>
                <a:ea typeface="Arial"/>
                <a:cs typeface="Arial"/>
              </a:rPr>
              <a:t>Coimbatore– 641021.</a:t>
            </a:r>
            <a:endParaRPr sz="3200" b="0" i="0" u="non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7B557784-0E60-0855-039E-480DF9E3A4D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5765" y="6245992"/>
            <a:ext cx="12191999" cy="740156"/>
          </a:xfrm>
        </p:spPr>
        <p:txBody>
          <a:bodyPr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Hackathon                 Tech Squad                 14-08-2026</a:t>
            </a:r>
          </a:p>
        </p:txBody>
      </p:sp>
    </p:spTree>
    <p:extLst>
      <p:ext uri="{BB962C8B-B14F-4D97-AF65-F5344CB8AC3E}">
        <p14:creationId xmlns:p14="http://schemas.microsoft.com/office/powerpoint/2010/main" val="1765624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2E90E38-C8A7-4EFD-BAB3-374B18A07ABD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94FBC684-90A0-4C15-821C-DFBA4E2E6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98" y="320507"/>
            <a:ext cx="10972800" cy="1477506"/>
          </a:xfrm>
        </p:spPr>
        <p:txBody>
          <a:bodyPr/>
          <a:lstStyle/>
          <a:p>
            <a:pPr>
              <a:buNone/>
            </a:pPr>
            <a:endParaRPr sz="3600" b="1">
              <a:latin typeface="Times New Roman"/>
              <a:ea typeface="Times New Roman"/>
              <a:cs typeface="Times New Roman"/>
            </a:endParaRPr>
          </a:p>
          <a:p>
            <a:pPr>
              <a:buNone/>
            </a:pPr>
            <a:r>
              <a:t>Pre-Development Round</a:t>
            </a:r>
            <a:endParaRPr sz="3600" b="1">
              <a:latin typeface="Times New Roman"/>
              <a:ea typeface="Times New Roman"/>
              <a:cs typeface="Times New Roman"/>
            </a:endParaRPr>
          </a:p>
          <a:p>
            <a:pPr>
              <a:buNone/>
            </a:pPr>
            <a:endParaRPr sz="3600" b="1">
              <a:latin typeface="Times New Roman"/>
              <a:ea typeface="Times New Roman"/>
              <a:cs typeface="Times New Roman"/>
            </a:endParaRPr>
          </a:p>
          <a:p>
            <a:pPr>
              <a:buNone/>
            </a:pPr>
            <a:r>
              <a:t>Methodology</a:t>
            </a:r>
            <a:endParaRPr sz="36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362" name="TextBox 8">
            <a:extLst>
              <a:ext uri="{FF2B5EF4-FFF2-40B4-BE49-F238E27FC236}">
                <a16:creationId xmlns:a16="http://schemas.microsoft.com/office/drawing/2014/main" id="{C7E548B0-B3BF-4C6B-A333-DF7501421770}"/>
              </a:ext>
            </a:extLst>
          </p:cNvPr>
          <p:cNvSpPr>
            <a:spLocks noGrp="1"/>
          </p:cNvSpPr>
          <p:nvPr/>
        </p:nvSpPr>
        <p:spPr>
          <a:xfrm>
            <a:off x="943523" y="2667689"/>
            <a:ext cx="10801787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buNone/>
            </a:pPr>
            <a:r>
              <a:rPr sz="3200" b="1">
                <a:latin typeface="Times New Roman"/>
                <a:ea typeface="Times New Roman"/>
                <a:cs typeface="Times New Roman"/>
              </a:rPr>
              <a:t>Overview: Role-based classroom availability and booking system.</a:t>
            </a:r>
          </a:p>
          <a:p>
            <a:pPr lvl="0">
              <a:buNone/>
            </a:pPr>
            <a:r>
              <a:t>Problem: Manual room coordination causes conflicts and delays.</a:t>
            </a:r>
            <a:endParaRPr sz="3200">
              <a:latin typeface="Times New Roman"/>
              <a:ea typeface="Times New Roman"/>
              <a:cs typeface="Times New Roman"/>
            </a:endParaRPr>
          </a:p>
          <a:p>
            <a:pPr marL="285750" lvl="0" indent="-285750">
              <a:buFont typeface="Arial"/>
              <a:buChar char="•"/>
            </a:pPr>
            <a:r>
              <a:rPr sz="3200">
                <a:latin typeface="Times New Roman"/>
                <a:ea typeface="Times New Roman"/>
                <a:cs typeface="Times New Roman"/>
              </a:rPr>
              <a:t>Objective: Use CSP + GA to recommend optimized classrooms.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75028-F779-42A1-9188-A30871BA43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pic>
        <p:nvPicPr>
          <p:cNvPr id="15369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86" y="99103"/>
            <a:ext cx="1447616" cy="1095431"/>
          </a:xfrm>
          <a:prstGeom prst="rect">
            <a:avLst/>
          </a:prstGeom>
        </p:spPr>
      </p:pic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8EB0E64D-F189-7F91-40EC-41C5CFE1C66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5765" y="6245992"/>
            <a:ext cx="12191999" cy="740156"/>
          </a:xfrm>
        </p:spPr>
        <p:txBody>
          <a:bodyPr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Hackathon                 Tech Squad                 14-08-2026</a:t>
            </a:r>
          </a:p>
        </p:txBody>
      </p:sp>
      <p:pic>
        <p:nvPicPr>
          <p:cNvPr id="15371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998" y="110404"/>
            <a:ext cx="1648682" cy="143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418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5B8AF7FA-2FE1-45E1-A9D1-CC1B2A3C4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364" y="442848"/>
            <a:ext cx="10972800" cy="1143000"/>
          </a:xfrm>
        </p:spPr>
        <p:txBody>
          <a:bodyPr/>
          <a:lstStyle/>
          <a:p>
            <a:pPr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System Workflow</a:t>
            </a:r>
            <a:endParaRPr sz="3600" b="1">
              <a:latin typeface="Times New Roman"/>
              <a:ea typeface="Times New Roman"/>
              <a:cs typeface="Times New Roman"/>
            </a:endParaRPr>
          </a:p>
          <a:p>
            <a:pPr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(Pictorial Representation)</a:t>
            </a:r>
            <a:endParaRPr sz="36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ECBFA3C5-3E79-4069-B28F-4817F5C1E371}"/>
              </a:ext>
            </a:extLst>
          </p:cNvPr>
          <p:cNvSpPr>
            <a:spLocks noGrp="1"/>
          </p:cNvSpPr>
          <p:nvPr/>
        </p:nvSpPr>
        <p:spPr>
          <a:xfrm>
            <a:off x="1566938" y="2563787"/>
            <a:ext cx="9385300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lvl="0" indent="-285750">
              <a:buFont typeface="Arial"/>
              <a:buChar char="•"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2E418-02D8-4D0F-B05A-5948D5C11A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pic>
        <p:nvPicPr>
          <p:cNvPr id="17433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1990" y="340696"/>
            <a:ext cx="1447616" cy="1095431"/>
          </a:xfrm>
          <a:prstGeom prst="rect">
            <a:avLst/>
          </a:prstGeom>
        </p:spPr>
      </p:pic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278E2406-D9A3-8535-81BF-72D72E6D8B9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5765" y="6245992"/>
            <a:ext cx="12191999" cy="740156"/>
          </a:xfrm>
        </p:spPr>
        <p:txBody>
          <a:bodyPr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Hackathon                 Tech Squad                 14-08-2026</a:t>
            </a:r>
          </a:p>
        </p:txBody>
      </p:sp>
      <p:pic>
        <p:nvPicPr>
          <p:cNvPr id="17435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94" y="43534"/>
            <a:ext cx="1648682" cy="1433544"/>
          </a:xfrm>
          <a:prstGeom prst="rect">
            <a:avLst/>
          </a:prstGeom>
        </p:spPr>
      </p:pic>
      <p:sp>
        <p:nvSpPr>
          <p:cNvPr id="17413" name="workflow-explanation-panel">
            <a:extLst>
              <a:ext uri="{FF2B5EF4-FFF2-40B4-BE49-F238E27FC236}">
                <a16:creationId xmlns:a16="http://schemas.microsoft.com/office/drawing/2014/main" id="{A32ECC94-A3BE-4EB2-8F76-AFA5F4B255CE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4210050" cy="40386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1430">
            <a:solidFill>
              <a:srgbClr val="D7E0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7414" name="workflow-heading">
            <a:extLst>
              <a:ext uri="{FF2B5EF4-FFF2-40B4-BE49-F238E27FC236}">
                <a16:creationId xmlns:a16="http://schemas.microsoft.com/office/drawing/2014/main" id="{0B74887E-31E9-4749-B367-10ABBA0D5CDC}"/>
              </a:ext>
            </a:extLst>
          </p:cNvPr>
          <p:cNvSpPr>
            <a:spLocks noGrp="1"/>
          </p:cNvSpPr>
          <p:nvPr/>
        </p:nvSpPr>
        <p:spPr>
          <a:xfrm>
            <a:off x="1009650" y="1924050"/>
            <a:ext cx="3676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7172F"/>
                </a:solidFill>
              </a:defRPr>
            </a:pPr>
            <a:r>
              <a:rPr sz="1875" b="1">
                <a:solidFill>
                  <a:srgbClr val="07172F"/>
                </a:solidFill>
              </a:rPr>
              <a:t>How the system works</a:t>
            </a:r>
          </a:p>
        </p:txBody>
      </p:sp>
      <p:sp>
        <p:nvSpPr>
          <p:cNvPr id="17415" name="workflow-steps">
            <a:extLst>
              <a:ext uri="{FF2B5EF4-FFF2-40B4-BE49-F238E27FC236}">
                <a16:creationId xmlns:a16="http://schemas.microsoft.com/office/drawing/2014/main" id="{85E26CD2-DD12-4AC3-A3D2-90B6F2353082}"/>
              </a:ext>
            </a:extLst>
          </p:cNvPr>
          <p:cNvSpPr>
            <a:spLocks noGrp="1"/>
          </p:cNvSpPr>
          <p:nvPr/>
        </p:nvSpPr>
        <p:spPr>
          <a:xfrm>
            <a:off x="1009650" y="2419350"/>
            <a:ext cx="3676650" cy="2914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526276"/>
                </a:solidFill>
              </a:defRPr>
            </a:pPr>
            <a:r>
              <a:rPr sz="1425">
                <a:solidFill>
                  <a:srgbClr val="526276"/>
                </a:solidFill>
              </a:rPr>
              <a:t>1. User logs in as Admin, Faculty, or Student.</a:t>
            </a:r>
          </a:p>
          <a:p>
            <a:pPr>
              <a:defRPr sz="1425">
                <a:solidFill>
                  <a:srgbClr val="526276"/>
                </a:solidFill>
              </a:defRPr>
            </a:pPr>
            <a:r>
              <a:rPr sz="1425">
                <a:solidFill>
                  <a:srgbClr val="526276"/>
                </a:solidFill>
              </a:rPr>
              <a:t>2. Dashboard shows live campus counts and active classes.</a:t>
            </a:r>
          </a:p>
          <a:p>
            <a:pPr>
              <a:defRPr sz="1425">
                <a:solidFill>
                  <a:srgbClr val="526276"/>
                </a:solidFill>
              </a:defRPr>
            </a:pPr>
            <a:r>
              <a:rPr sz="1425">
                <a:solidFill>
                  <a:srgbClr val="526276"/>
                </a:solidFill>
              </a:rPr>
              <a:t>3. Class Rooms displays block-wise classroom availability.</a:t>
            </a:r>
          </a:p>
          <a:p>
            <a:pPr>
              <a:defRPr sz="1425">
                <a:solidFill>
                  <a:srgbClr val="526276"/>
                </a:solidFill>
              </a:defRPr>
            </a:pPr>
            <a:r>
              <a:rPr sz="1425">
                <a:solidFill>
                  <a:srgbClr val="526276"/>
                </a:solidFill>
              </a:rPr>
              <a:t>4. Booking selects a future date, room, and period.</a:t>
            </a:r>
          </a:p>
          <a:p>
            <a:pPr>
              <a:defRPr sz="1425">
                <a:solidFill>
                  <a:srgbClr val="526276"/>
                </a:solidFill>
              </a:defRPr>
            </a:pPr>
            <a:r>
              <a:rPr sz="1425">
                <a:solidFill>
                  <a:srgbClr val="526276"/>
                </a:solidFill>
              </a:rPr>
              <a:t>5. CSP checks constraints and prevents time conflicts.</a:t>
            </a:r>
          </a:p>
          <a:p>
            <a:pPr>
              <a:defRPr sz="1425">
                <a:solidFill>
                  <a:srgbClr val="526276"/>
                </a:solidFill>
              </a:defRPr>
            </a:pPr>
            <a:r>
              <a:rPr sz="1425">
                <a:solidFill>
                  <a:srgbClr val="526276"/>
                </a:solidFill>
              </a:rPr>
              <a:t>6. GA ranks suitable rooms; booking is saved and synced.</a:t>
            </a:r>
          </a:p>
        </p:txBody>
      </p:sp>
      <p:sp>
        <p:nvSpPr>
          <p:cNvPr id="17416" name="workflow-ai-tag">
            <a:extLst>
              <a:ext uri="{FF2B5EF4-FFF2-40B4-BE49-F238E27FC236}">
                <a16:creationId xmlns:a16="http://schemas.microsoft.com/office/drawing/2014/main" id="{7F33B887-C281-49A3-83A3-A6BECC51BD0D}"/>
              </a:ext>
            </a:extLst>
          </p:cNvPr>
          <p:cNvSpPr>
            <a:spLocks noGrp="1"/>
          </p:cNvSpPr>
          <p:nvPr/>
        </p:nvSpPr>
        <p:spPr>
          <a:xfrm>
            <a:off x="1009650" y="5238750"/>
            <a:ext cx="3676650" cy="30480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5A4AF0"/>
                </a:solidFill>
              </a:defRPr>
            </a:pPr>
            <a:r>
              <a:rPr sz="1013" b="1">
                <a:solidFill>
                  <a:srgbClr val="5A4AF0"/>
                </a:solidFill>
              </a:rPr>
              <a:t>AI Layer: CSP + Genetic Algorithm for conflict-free scheduling</a:t>
            </a:r>
          </a:p>
        </p:txBody>
      </p:sp>
      <p:sp>
        <p:nvSpPr>
          <p:cNvPr id="17417" name="workflow-image-frame-1">
            <a:extLst>
              <a:ext uri="{FF2B5EF4-FFF2-40B4-BE49-F238E27FC236}">
                <a16:creationId xmlns:a16="http://schemas.microsoft.com/office/drawing/2014/main" id="{07509A75-6A94-47B0-BD05-021DC3717B46}"/>
              </a:ext>
            </a:extLst>
          </p:cNvPr>
          <p:cNvSpPr>
            <a:spLocks noGrp="1"/>
          </p:cNvSpPr>
          <p:nvPr/>
        </p:nvSpPr>
        <p:spPr>
          <a:xfrm>
            <a:off x="5257800" y="1600200"/>
            <a:ext cx="2724150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7E0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7418" name="workflow-image-caption-1">
            <a:extLst>
              <a:ext uri="{FF2B5EF4-FFF2-40B4-BE49-F238E27FC236}">
                <a16:creationId xmlns:a16="http://schemas.microsoft.com/office/drawing/2014/main" id="{86C4A34E-5E78-4643-9D61-5FDC5A0934BB}"/>
              </a:ext>
            </a:extLst>
          </p:cNvPr>
          <p:cNvSpPr>
            <a:spLocks noGrp="1"/>
          </p:cNvSpPr>
          <p:nvPr/>
        </p:nvSpPr>
        <p:spPr>
          <a:xfrm>
            <a:off x="5334000" y="32194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7172F"/>
                </a:solidFill>
              </a:defRPr>
            </a:pPr>
            <a:r>
              <a:rPr sz="1050" b="1">
                <a:solidFill>
                  <a:srgbClr val="07172F"/>
                </a:solidFill>
              </a:rPr>
              <a:t>1. Login</a:t>
            </a:r>
          </a:p>
        </p:txBody>
      </p:sp>
      <p:pic>
        <p:nvPicPr>
          <p:cNvPr id="17442" name="Picture 17441"/>
          <p:cNvPicPr>
            <a:picLocks noChangeAspect="1"/>
          </p:cNvPicPr>
          <p:nvPr/>
        </p:nvPicPr>
        <p:blipFill>
          <a:blip r:embed="rId5"/>
          <a:srcRect t="25595" b="25595"/>
          <a:stretch>
            <a:fillRect/>
          </a:stretch>
        </p:blipFill>
        <p:spPr>
          <a:xfrm>
            <a:off x="5334000" y="1676400"/>
            <a:ext cx="2571750" cy="1466850"/>
          </a:xfrm>
          <a:prstGeom prst="roundRect">
            <a:avLst>
              <a:gd name="adj" fmla="val 5195"/>
            </a:avLst>
          </a:prstGeom>
        </p:spPr>
      </p:pic>
      <p:sp>
        <p:nvSpPr>
          <p:cNvPr id="17420" name="workflow-image-frame-2">
            <a:extLst>
              <a:ext uri="{FF2B5EF4-FFF2-40B4-BE49-F238E27FC236}">
                <a16:creationId xmlns:a16="http://schemas.microsoft.com/office/drawing/2014/main" id="{9A90A6E9-5BDD-4F57-A1B5-8C9CB966134B}"/>
              </a:ext>
            </a:extLst>
          </p:cNvPr>
          <p:cNvSpPr>
            <a:spLocks noGrp="1"/>
          </p:cNvSpPr>
          <p:nvPr/>
        </p:nvSpPr>
        <p:spPr>
          <a:xfrm>
            <a:off x="8096250" y="1600200"/>
            <a:ext cx="3295650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7E0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7421" name="workflow-image-caption-2">
            <a:extLst>
              <a:ext uri="{FF2B5EF4-FFF2-40B4-BE49-F238E27FC236}">
                <a16:creationId xmlns:a16="http://schemas.microsoft.com/office/drawing/2014/main" id="{12E2C609-2961-4047-A221-9CE755874285}"/>
              </a:ext>
            </a:extLst>
          </p:cNvPr>
          <p:cNvSpPr>
            <a:spLocks noGrp="1"/>
          </p:cNvSpPr>
          <p:nvPr/>
        </p:nvSpPr>
        <p:spPr>
          <a:xfrm>
            <a:off x="8172450" y="321945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7172F"/>
                </a:solidFill>
              </a:defRPr>
            </a:pPr>
            <a:r>
              <a:rPr sz="1050" b="1">
                <a:solidFill>
                  <a:srgbClr val="07172F"/>
                </a:solidFill>
              </a:rPr>
              <a:t>2. Dashboard</a:t>
            </a:r>
          </a:p>
        </p:txBody>
      </p:sp>
      <p:pic>
        <p:nvPicPr>
          <p:cNvPr id="17445" name="Picture 17444"/>
          <p:cNvPicPr>
            <a:picLocks noChangeAspect="1"/>
          </p:cNvPicPr>
          <p:nvPr/>
        </p:nvPicPr>
        <p:blipFill>
          <a:blip r:embed="rId6"/>
          <a:srcRect t="575" b="575"/>
          <a:stretch>
            <a:fillRect/>
          </a:stretch>
        </p:blipFill>
        <p:spPr>
          <a:xfrm>
            <a:off x="8172450" y="1676400"/>
            <a:ext cx="3143250" cy="1466850"/>
          </a:xfrm>
          <a:prstGeom prst="roundRect">
            <a:avLst>
              <a:gd name="adj" fmla="val 5195"/>
            </a:avLst>
          </a:prstGeom>
        </p:spPr>
      </p:pic>
      <p:sp>
        <p:nvSpPr>
          <p:cNvPr id="17423" name="workflow-image-frame-3">
            <a:extLst>
              <a:ext uri="{FF2B5EF4-FFF2-40B4-BE49-F238E27FC236}">
                <a16:creationId xmlns:a16="http://schemas.microsoft.com/office/drawing/2014/main" id="{5CA46CA6-683E-401E-AAAE-B7B3243CE182}"/>
              </a:ext>
            </a:extLst>
          </p:cNvPr>
          <p:cNvSpPr>
            <a:spLocks noGrp="1"/>
          </p:cNvSpPr>
          <p:nvPr/>
        </p:nvSpPr>
        <p:spPr>
          <a:xfrm>
            <a:off x="5257800" y="3600450"/>
            <a:ext cx="3295650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7E0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7424" name="workflow-image-caption-3">
            <a:extLst>
              <a:ext uri="{FF2B5EF4-FFF2-40B4-BE49-F238E27FC236}">
                <a16:creationId xmlns:a16="http://schemas.microsoft.com/office/drawing/2014/main" id="{300A3A0B-5D6F-4EDB-BB7F-60B61346AF69}"/>
              </a:ext>
            </a:extLst>
          </p:cNvPr>
          <p:cNvSpPr>
            <a:spLocks noGrp="1"/>
          </p:cNvSpPr>
          <p:nvPr/>
        </p:nvSpPr>
        <p:spPr>
          <a:xfrm>
            <a:off x="5334000" y="52197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7172F"/>
                </a:solidFill>
              </a:defRPr>
            </a:pPr>
            <a:r>
              <a:rPr sz="1050" b="1">
                <a:solidFill>
                  <a:srgbClr val="07172F"/>
                </a:solidFill>
              </a:rPr>
              <a:t>3. Class Rooms</a:t>
            </a:r>
          </a:p>
        </p:txBody>
      </p:sp>
      <p:pic>
        <p:nvPicPr>
          <p:cNvPr id="17448" name="Picture 17447"/>
          <p:cNvPicPr>
            <a:picLocks noChangeAspect="1"/>
          </p:cNvPicPr>
          <p:nvPr/>
        </p:nvPicPr>
        <p:blipFill>
          <a:blip r:embed="rId7"/>
          <a:srcRect t="903" b="903"/>
          <a:stretch>
            <a:fillRect/>
          </a:stretch>
        </p:blipFill>
        <p:spPr>
          <a:xfrm>
            <a:off x="5334000" y="3676650"/>
            <a:ext cx="3143250" cy="1466850"/>
          </a:xfrm>
          <a:prstGeom prst="roundRect">
            <a:avLst>
              <a:gd name="adj" fmla="val 5195"/>
            </a:avLst>
          </a:prstGeom>
        </p:spPr>
      </p:pic>
      <p:sp>
        <p:nvSpPr>
          <p:cNvPr id="17426" name="workflow-image-frame-4">
            <a:extLst>
              <a:ext uri="{FF2B5EF4-FFF2-40B4-BE49-F238E27FC236}">
                <a16:creationId xmlns:a16="http://schemas.microsoft.com/office/drawing/2014/main" id="{A79BBB27-47E6-4EF1-82B8-8D0B4B681A36}"/>
              </a:ext>
            </a:extLst>
          </p:cNvPr>
          <p:cNvSpPr>
            <a:spLocks noGrp="1"/>
          </p:cNvSpPr>
          <p:nvPr/>
        </p:nvSpPr>
        <p:spPr>
          <a:xfrm>
            <a:off x="8667750" y="3600450"/>
            <a:ext cx="2724150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7E0E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7427" name="workflow-image-caption-4">
            <a:extLst>
              <a:ext uri="{FF2B5EF4-FFF2-40B4-BE49-F238E27FC236}">
                <a16:creationId xmlns:a16="http://schemas.microsoft.com/office/drawing/2014/main" id="{43EF5B91-ECB8-43DB-BE7C-8B401A1A8BD9}"/>
              </a:ext>
            </a:extLst>
          </p:cNvPr>
          <p:cNvSpPr>
            <a:spLocks noGrp="1"/>
          </p:cNvSpPr>
          <p:nvPr/>
        </p:nvSpPr>
        <p:spPr>
          <a:xfrm>
            <a:off x="8743950" y="52197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7172F"/>
                </a:solidFill>
              </a:defRPr>
            </a:pPr>
            <a:r>
              <a:rPr sz="1050" b="1">
                <a:solidFill>
                  <a:srgbClr val="07172F"/>
                </a:solidFill>
              </a:rPr>
              <a:t>4. Booking</a:t>
            </a:r>
          </a:p>
        </p:txBody>
      </p:sp>
      <p:pic>
        <p:nvPicPr>
          <p:cNvPr id="17451" name="Picture 17450"/>
          <p:cNvPicPr>
            <a:picLocks noChangeAspect="1"/>
          </p:cNvPicPr>
          <p:nvPr/>
        </p:nvPicPr>
        <p:blipFill>
          <a:blip r:embed="rId8"/>
          <a:srcRect l="8820" r="8820"/>
          <a:stretch>
            <a:fillRect/>
          </a:stretch>
        </p:blipFill>
        <p:spPr>
          <a:xfrm>
            <a:off x="8743950" y="3676650"/>
            <a:ext cx="2571750" cy="1466850"/>
          </a:xfrm>
          <a:prstGeom prst="roundRect">
            <a:avLst>
              <a:gd name="adj" fmla="val 5195"/>
            </a:avLst>
          </a:prstGeom>
        </p:spPr>
      </p:pic>
    </p:spTree>
    <p:extLst>
      <p:ext uri="{BB962C8B-B14F-4D97-AF65-F5344CB8AC3E}">
        <p14:creationId xmlns:p14="http://schemas.microsoft.com/office/powerpoint/2010/main" val="1268253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857D9544-B246-4E27-8C39-6C3573158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364" y="521829"/>
            <a:ext cx="10972800" cy="1143000"/>
          </a:xfrm>
        </p:spPr>
        <p:txBody>
          <a:bodyPr/>
          <a:lstStyle/>
          <a:p>
            <a:pPr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Detailed Step-by-Step Methodology</a:t>
            </a:r>
            <a:endParaRPr sz="36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61053F2A-0BB5-426D-8FEE-196C853DF898}"/>
              </a:ext>
            </a:extLst>
          </p:cNvPr>
          <p:cNvSpPr>
            <a:spLocks noGrp="1"/>
          </p:cNvSpPr>
          <p:nvPr/>
        </p:nvSpPr>
        <p:spPr>
          <a:xfrm>
            <a:off x="1794146" y="2376513"/>
            <a:ext cx="9385300" cy="35394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lvl="0" indent="-285750">
              <a:buFont typeface="Arial"/>
              <a:buChar char="•"/>
            </a:pPr>
            <a:r>
              <a:rPr sz="3200">
                <a:latin typeface="Times New Roman"/>
                <a:ea typeface="Times New Roman"/>
                <a:cs typeface="Times New Roman"/>
              </a:rPr>
              <a:t>Step 1: Collect block, date, period/time, and capacity.</a:t>
            </a:r>
          </a:p>
          <a:p>
            <a:pPr marL="285750" lvl="0" indent="-285750">
              <a:buFont typeface="Arial"/>
              <a:buChar char="•"/>
            </a:pPr>
            <a:r>
              <a:t>Step 2: Validate role, time window, and 14-day limit.</a:t>
            </a:r>
            <a:endParaRPr sz="3200">
              <a:latin typeface="Times New Roman"/>
              <a:ea typeface="Times New Roman"/>
              <a:cs typeface="Times New Roman"/>
            </a:endParaRPr>
          </a:p>
          <a:p>
            <a:pPr marL="285750" lvl="0" indent="-285750">
              <a:buFont typeface="Arial"/>
              <a:buChar char="•"/>
            </a:pPr>
            <a:r>
              <a:rPr sz="3200">
                <a:latin typeface="Times New Roman"/>
                <a:ea typeface="Times New Roman"/>
                <a:cs typeface="Times New Roman"/>
              </a:rPr>
              <a:t>Step 3: CSP removes conflicts; GA ranks best-fit rooms.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AAF93-EDFB-40A3-8DD3-A126ABCF35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1990" y="419526"/>
            <a:ext cx="1447616" cy="10954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F7B3FB-BA6E-2E8A-E537-699E0377C90A}"/>
              </a:ext>
            </a:extLst>
          </p:cNvPr>
          <p:cNvSpPr>
            <a:spLocks noGrp="1"/>
          </p:cNvSpPr>
          <p:nvPr/>
        </p:nvSpPr>
        <p:spPr>
          <a:xfrm>
            <a:off x="4028090" y="1393055"/>
            <a:ext cx="2889354" cy="678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sz="1800" i="1">
                <a:latin typeface="Times New Roman"/>
                <a:ea typeface="Times New Roman"/>
                <a:cs typeface="Times New Roman"/>
              </a:rPr>
              <a:t>(CSP + GA enabled classroom booking)</a:t>
            </a:r>
            <a:endParaRPr sz="1600">
              <a:latin typeface="Calibri"/>
              <a:ea typeface="Calibri"/>
              <a:cs typeface="Calibri"/>
            </a:endParaRP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92B96C90-EA5D-7B0F-D3FB-6BF44F0C6E0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5765" y="6245992"/>
            <a:ext cx="12191999" cy="740156"/>
          </a:xfrm>
        </p:spPr>
        <p:txBody>
          <a:bodyPr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Hackathon                 Tech Squad                 14-08-2026</a:t>
            </a:r>
          </a:p>
        </p:txBody>
      </p:sp>
      <p:pic>
        <p:nvPicPr>
          <p:cNvPr id="17420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28" y="196898"/>
            <a:ext cx="1648682" cy="143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002D142F-BC3D-45D0-BB01-D963CF714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476" y="596212"/>
            <a:ext cx="10972800" cy="1143000"/>
          </a:xfrm>
        </p:spPr>
        <p:txBody>
          <a:bodyPr/>
          <a:lstStyle/>
          <a:p>
            <a:pPr>
              <a:buNone/>
            </a:pPr>
            <a:r>
              <a:rPr b="1">
                <a:latin typeface="Times New Roman"/>
                <a:ea typeface="Times New Roman"/>
                <a:cs typeface="Times New Roman"/>
              </a:rPr>
              <a:t>Algorithm / Logic Explanation</a:t>
            </a:r>
            <a:endParaRPr sz="36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63B72C53-3F0F-4498-90A8-C0693FA1AF14}"/>
              </a:ext>
            </a:extLst>
          </p:cNvPr>
          <p:cNvSpPr>
            <a:spLocks noGrp="1"/>
          </p:cNvSpPr>
          <p:nvPr/>
        </p:nvSpPr>
        <p:spPr>
          <a:xfrm>
            <a:off x="1749410" y="2574957"/>
            <a:ext cx="9385300" cy="2554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lvl="0" indent="-285750">
              <a:buFont typeface="Arial"/>
              <a:buChar char="•"/>
            </a:pPr>
            <a:r>
              <a:rPr sz="3200">
                <a:latin typeface="Times New Roman"/>
                <a:ea typeface="Times New Roman"/>
                <a:cs typeface="Times New Roman"/>
              </a:rPr>
              <a:t>CSP: Removes rooms with booking, class, or capacity conflicts.</a:t>
            </a:r>
          </a:p>
          <a:p>
            <a:pPr marL="285750" lvl="0" indent="-285750">
              <a:buFont typeface="Arial"/>
              <a:buChar char="•"/>
            </a:pPr>
            <a:r>
              <a:t>GA: Ranks valid rooms by capacity fit, room type, and usage.</a:t>
            </a:r>
            <a:endParaRPr sz="3200">
              <a:latin typeface="Times New Roman"/>
              <a:ea typeface="Times New Roman"/>
              <a:cs typeface="Times New Roman"/>
            </a:endParaRPr>
          </a:p>
          <a:p>
            <a:pPr marL="285750" lvl="0" indent="-285750">
              <a:buFont typeface="Arial"/>
              <a:buChar char="•"/>
            </a:pPr>
            <a:r>
              <a:rPr sz="3200">
                <a:latin typeface="Times New Roman"/>
                <a:ea typeface="Times New Roman"/>
                <a:cs typeface="Times New Roman"/>
              </a:rPr>
              <a:t>Output: Top suggestions with AI score and reason.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22578-76B9-4CF4-869E-86111D99F1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1990" y="340696"/>
            <a:ext cx="1447616" cy="1095431"/>
          </a:xfrm>
          <a:prstGeom prst="rect">
            <a:avLst/>
          </a:prstGeom>
        </p:spPr>
      </p:pic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3D8595BF-4357-993D-B68B-D40AAEE0A2C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5765" y="6245992"/>
            <a:ext cx="12191999" cy="740156"/>
          </a:xfrm>
        </p:spPr>
        <p:txBody>
          <a:bodyPr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Hackathon                 Tech Squad                 14-08-2026</a:t>
            </a:r>
          </a:p>
        </p:txBody>
      </p:sp>
      <p:pic>
        <p:nvPicPr>
          <p:cNvPr id="17419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28" y="196898"/>
            <a:ext cx="1648682" cy="143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AA3A7-994D-4B08-A8AE-C59398182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897"/>
            <a:ext cx="10972800" cy="1143000"/>
          </a:xfrm>
        </p:spPr>
        <p:txBody>
          <a:bodyPr/>
          <a:lstStyle/>
          <a:p>
            <a:r>
              <a:rPr b="1">
                <a:latin typeface="Times New Roman"/>
                <a:ea typeface="Times New Roman"/>
                <a:cs typeface="Times New Roman"/>
              </a:rPr>
              <a:t>Validation &amp; Evaluation Plan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00FFA-4502-4F0A-98A8-CB88C6E25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8422" y="2355564"/>
            <a:ext cx="7558171" cy="3584458"/>
          </a:xfrm>
        </p:spPr>
        <p:txBody>
          <a:bodyPr/>
          <a:lstStyle/>
          <a:p>
            <a:pPr lvl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Validate bookings for today and up to 14 days ahead.</a:t>
            </a:r>
          </a:p>
          <a:p>
            <a:pPr lvl="0">
              <a:buNone/>
            </a:pPr>
            <a:r>
              <a:t>Test overlap conflicts and active class sessions.</a:t>
            </a:r>
            <a:endParaRPr>
              <a:latin typeface="Times New Roman"/>
              <a:ea typeface="Times New Roman"/>
              <a:cs typeface="Times New Roman"/>
            </a:endParaRPr>
          </a:p>
          <a:p>
            <a:pPr lvl="0"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Success: correct status, saved booking, clear recommendation.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152982-135E-49CE-98DB-C29F10D3AA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77C3CE7-23F7-4828-823C-E0205DF2CF97}" type="slidenum">
              <a:rPr/>
              <a:t>6</a:t>
            </a:fld>
            <a:endParaRPr/>
          </a:p>
        </p:txBody>
      </p:sp>
      <p:pic>
        <p:nvPicPr>
          <p:cNvPr id="13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1990" y="340696"/>
            <a:ext cx="1447616" cy="109543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9954186-15AE-4673-AE81-8A72813DF910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0F04BFFB-3419-07C6-3C0D-708FE71F6F1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5765" y="6245992"/>
            <a:ext cx="12191999" cy="740156"/>
          </a:xfrm>
        </p:spPr>
        <p:txBody>
          <a:bodyPr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Hackathon                 Tech Squad                 14-08-2026</a:t>
            </a:r>
          </a:p>
        </p:txBody>
      </p:sp>
      <p:pic>
        <p:nvPicPr>
          <p:cNvPr id="16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28" y="196898"/>
            <a:ext cx="1648682" cy="143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260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AA3A7-994D-4B08-A8AE-C59398182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13" y="2848365"/>
            <a:ext cx="10972800" cy="1143000"/>
          </a:xfrm>
        </p:spPr>
        <p:txBody>
          <a:bodyPr/>
          <a:lstStyle/>
          <a:p>
            <a:r>
              <a:rPr sz="3600" b="1">
                <a:latin typeface="Times New Roman"/>
                <a:ea typeface="Times New Roman"/>
                <a:cs typeface="Times New Roman"/>
              </a:rPr>
              <a:t>THANK YOU</a:t>
            </a:r>
          </a:p>
          <a:p>
            <a:r>
              <a:rPr sz="3600" b="1">
                <a:latin typeface="Times New Roman"/>
                <a:ea typeface="Times New Roman"/>
                <a:cs typeface="Times New Roman"/>
              </a:rPr>
              <a:t>Tech Squad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152982-135E-49CE-98DB-C29F10D3AA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77C3CE7-23F7-4828-823C-E0205DF2CF97}" type="slidenum">
              <a:rPr/>
              <a:t>7</a:t>
            </a:fld>
            <a:endParaRPr/>
          </a:p>
        </p:txBody>
      </p:sp>
      <p:pic>
        <p:nvPicPr>
          <p:cNvPr id="12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1990" y="340696"/>
            <a:ext cx="1447616" cy="109543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92FB07-F630-47CC-B91C-A881822323DB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DF29EFAF-D91C-172F-1038-AB3D48D2A0F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63063" y="6245992"/>
            <a:ext cx="12191999" cy="740156"/>
          </a:xfrm>
        </p:spPr>
        <p:txBody>
          <a:bodyPr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Hackathon                 Tech Squad                 14-08-2026</a:t>
            </a:r>
          </a:p>
        </p:txBody>
      </p:sp>
      <p:pic>
        <p:nvPicPr>
          <p:cNvPr id="15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28" y="196898"/>
            <a:ext cx="1648682" cy="143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959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</Words>
  <Application>Microsoft Office PowerPoint</Application>
  <DocSecurity>0</DocSecurity>
  <PresentationFormat>Widescreen</PresentationFormat>
  <Paragraphs>77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 KAHE Campus Management System</vt:lpstr>
      <vt:lpstr> Pre-Development Round  Methodology</vt:lpstr>
      <vt:lpstr>System Workflow (Pictorial Representation)</vt:lpstr>
      <vt:lpstr>Detailed Step-by-Step Methodology</vt:lpstr>
      <vt:lpstr>Algorithm / Logic Explanation</vt:lpstr>
      <vt:lpstr>Validation &amp; Evaluation Plan</vt:lpstr>
      <vt:lpstr>THANK YOU Tech Squad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Bebin R</cp:lastModifiedBy>
  <cp:revision>1</cp:revision>
  <dcterms:created xsi:type="dcterms:W3CDTF">2026-08-14T03:26:42Z</dcterms:created>
  <dcterms:modified xsi:type="dcterms:W3CDTF">2026-08-14T03:36:14Z</dcterms:modified>
</cp:coreProperties>
</file>